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9" r:id="rId2"/>
    <p:sldId id="257" r:id="rId3"/>
    <p:sldId id="262" r:id="rId4"/>
    <p:sldId id="258" r:id="rId5"/>
    <p:sldId id="260" r:id="rId6"/>
    <p:sldId id="261" r:id="rId7"/>
    <p:sldId id="263" r:id="rId8"/>
    <p:sldId id="264" r:id="rId9"/>
    <p:sldId id="267" r:id="rId10"/>
    <p:sldId id="270" r:id="rId11"/>
    <p:sldId id="271" r:id="rId12"/>
    <p:sldId id="265" r:id="rId13"/>
    <p:sldId id="266" r:id="rId14"/>
    <p:sldId id="269" r:id="rId15"/>
    <p:sldId id="268" r:id="rId16"/>
    <p:sldId id="273" r:id="rId17"/>
    <p:sldId id="274" r:id="rId18"/>
    <p:sldId id="276" r:id="rId19"/>
    <p:sldId id="275" r:id="rId20"/>
    <p:sldId id="280" r:id="rId21"/>
    <p:sldId id="277" r:id="rId22"/>
    <p:sldId id="279" r:id="rId23"/>
    <p:sldId id="278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3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C9D22-2E48-4781-A411-8B9EA013C2EA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63D6DB-22F7-48DB-AC84-ADA73F5D99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32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404C2A-08E1-0DBF-5496-1A980B91E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27BFAF7-CD3D-335A-D093-E7EB591E1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C91511-A842-8421-EB25-2776254A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769453-D572-DE4B-85FD-9AD12E0A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BB7A23-D476-7A8B-204F-145A9FC9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54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30358B-1CCF-E120-F5A1-8B45DD23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EFE1E1-A152-B135-F639-E6A96F280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903843-CFCE-B8B8-CAF0-6AF6B83D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E17594-A1CE-FB92-47D8-59DC6A74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C56A4D-EBC0-4AC4-4381-1ED75FDA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391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BC9183-6754-D144-1CE2-97544D79D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CC304B-4620-4672-0654-EB17618E7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F17263-2BEB-F96A-CBDA-38838BD0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ED1D55-B854-1E11-285D-A1345589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BA28E8-0311-85D0-5D93-EC9A316A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214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CBE956-83AB-9E18-F227-B07E7FBE2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E40E75-6834-DF4F-78F2-A89FD531D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9209B5-6E16-1C65-EB0D-C637EDA18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FDB65D-FC8B-25BE-C91F-E97FB5A4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FA3294-AF6D-6AC8-3B04-9882C5C6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1B27F3-227B-FD67-90FE-0B31E41B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930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EA5D61-622E-BE69-B217-12F6356A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C12D69E-7A87-8075-E898-FA299C86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346EF4-BB68-4305-F8AE-644F79C1C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9E1B9F3-2DC4-317B-5F12-2EFB0000E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467380E-B1F5-8129-6682-0C9EDE64A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14E7A0-3257-B2CA-BF73-3FDA75E1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2E32EC-F3FA-DA62-1FD7-F9304BEE8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2454851-DB61-C7F8-12E5-F734DCCD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8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FD5CA-1363-60A9-401C-BB3285DB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85726"/>
            <a:ext cx="11861800" cy="379942"/>
          </a:xfrm>
        </p:spPr>
        <p:txBody>
          <a:bodyPr/>
          <a:lstStyle>
            <a:lvl1pPr>
              <a:defRPr sz="1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2B58D4A-487D-A032-549F-A63ABC6B7FC2}"/>
              </a:ext>
            </a:extLst>
          </p:cNvPr>
          <p:cNvCxnSpPr/>
          <p:nvPr userDrawn="1"/>
        </p:nvCxnSpPr>
        <p:spPr>
          <a:xfrm>
            <a:off x="152400" y="482602"/>
            <a:ext cx="11861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33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3B53046-BE7E-1C98-4591-6824FAAF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036C3BE-B391-0BC1-D0BE-D6E75DF2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BC9378-9EDD-BFB7-CE12-99ACFD94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252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4DCCD0-A01D-12D1-5412-39009134C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FC7407-9E64-F657-54BC-F8A6D0872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B34369-59E8-1AE9-044D-AB10FA9A0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6C7A36-CD14-6D5A-2EC0-C97EF6C4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757605-F810-2CBA-6AB2-F9A9D075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2CB899-B2B0-FE3B-EAEF-A8D847DE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103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B6887B-20CE-D48E-4C29-E3E75667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B245CBF-2318-3859-F9B3-A6E62E6A6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DD4B5B-3580-8639-A007-39507F720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6B74C7-122A-6838-4D00-C1217AF5E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C358A9-186A-CAA6-C46A-53FB487F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682B5E-7DD6-5983-8DDB-A8DD7B64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695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47CDAD-4E5D-09ED-F263-DE5F95030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AD2D4C-385C-2C67-B84D-F6A37A245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B1CCA3-F65C-6D47-FF42-71C0EFE3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3549ED-D8F2-486A-D68F-2AE0B5CD8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BEC996-EEFD-1D66-21C2-42C3F832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905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A9CF76-469F-676C-05CC-D14EEA990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467745-E615-741C-1717-C72BCD426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AB86FE-B7E2-AC7A-EE98-1933846A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A46838-9AC6-610B-7AB4-B2186685C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C699F4-D5FC-9BF4-AA96-290CE381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247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FD1031-D9B9-C0DA-AB42-9FF9BA87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1A2FA7-85E7-A0C0-9E94-AEF3DDAB1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7CA901-8843-A368-84ED-6B2BC5F36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6CFF6-2A26-4293-88C6-68107CBD2C39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88D710-8576-9A8F-81C7-DF9FD1FE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E3119F-CF9B-70E2-BFF5-C604A54BE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8F7A5-4272-4D6D-9E02-A0FEB2E60D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90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Program%20Files/Microsoft%20VS%20Code/10c8e557c8/resources/app/out/vs/code/electron-browser/workbench/workbench.html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35A4F-3328-7C52-BA43-12ABD8C96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584F37F5-16D6-DFB4-E495-ADD1E12A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73" y="2716742"/>
            <a:ext cx="11464290" cy="377825"/>
          </a:xfrm>
        </p:spPr>
        <p:txBody>
          <a:bodyPr>
            <a:normAutofit/>
          </a:bodyPr>
          <a:lstStyle/>
          <a:p>
            <a:pPr algn="ctr"/>
            <a:r>
              <a:rPr lang="en-US" altLang="ja-JP" sz="2000" dirty="0"/>
              <a:t>Supersonic</a:t>
            </a:r>
            <a:r>
              <a:rPr lang="ja-JP" altLang="en-US" sz="2000" dirty="0"/>
              <a:t>　</a:t>
            </a:r>
            <a:r>
              <a:rPr lang="en-US" altLang="ja-JP" sz="2000" dirty="0"/>
              <a:t>Atomizer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23723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BFB2-7D5D-EE08-B2CB-B78FAF639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6770FF4B-5E44-0ED8-5E13-08B2EE376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55" y="75142"/>
            <a:ext cx="11464290" cy="377825"/>
          </a:xfrm>
        </p:spPr>
        <p:txBody>
          <a:bodyPr>
            <a:normAutofit/>
          </a:bodyPr>
          <a:lstStyle/>
          <a:p>
            <a:r>
              <a:rPr lang="en-US" altLang="ja-JP" sz="1600" dirty="0"/>
              <a:t>Weber number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16A4475-AC87-190C-1387-C72A50A1D97E}"/>
                  </a:ext>
                </a:extLst>
              </p:cNvPr>
              <p:cNvSpPr txBox="1"/>
              <p:nvPr/>
            </p:nvSpPr>
            <p:spPr>
              <a:xfrm>
                <a:off x="276224" y="616687"/>
                <a:ext cx="5071631" cy="53929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ja-JP" sz="1000" b="1" dirty="0"/>
                  <a:t>Y </a:t>
                </a:r>
                <a:r>
                  <a:rPr lang="ja-JP" altLang="en-US" sz="1000" b="1" dirty="0"/>
                  <a:t>とは何か？</a:t>
                </a:r>
              </a:p>
              <a:p>
                <a:pPr>
                  <a:buNone/>
                </a:pPr>
                <a:r>
                  <a:rPr lang="en-US" altLang="ja-JP" sz="1000" b="1" dirty="0"/>
                  <a:t>Y </a:t>
                </a:r>
                <a:r>
                  <a:rPr lang="ja-JP" altLang="en-US" sz="1000" b="1" dirty="0"/>
                  <a:t>は「液滴がどれだけ潰れて変形しているか」を表す無次元量</a:t>
                </a:r>
                <a:r>
                  <a:rPr lang="ja-JP" altLang="en-US" sz="1000" dirty="0"/>
                  <a:t>だよ。</a:t>
                </a:r>
                <a:br>
                  <a:rPr lang="ja-JP" altLang="en-US" sz="1000" dirty="0"/>
                </a:br>
                <a:r>
                  <a:rPr lang="en-US" altLang="ja-JP" sz="1000" dirty="0"/>
                  <a:t>TAB</a:t>
                </a:r>
                <a:r>
                  <a:rPr lang="ja-JP" altLang="en-US" sz="1000" dirty="0"/>
                  <a:t>（</a:t>
                </a:r>
                <a:r>
                  <a:rPr lang="en-US" altLang="ja-JP" sz="1000" dirty="0"/>
                  <a:t>Taylor Analogy Breakup</a:t>
                </a:r>
                <a:r>
                  <a:rPr lang="ja-JP" altLang="en-US" sz="1000" dirty="0"/>
                  <a:t>）モデルでは、</a:t>
                </a:r>
                <a:r>
                  <a:rPr lang="ja-JP" altLang="en-US" sz="1000" b="1" dirty="0"/>
                  <a:t>液滴の変形度合い</a:t>
                </a:r>
                <a:r>
                  <a:rPr lang="ja-JP" altLang="en-US" sz="1000" dirty="0"/>
                  <a:t>を一つの指標で表す必要があって、それが </a:t>
                </a:r>
                <a:r>
                  <a:rPr lang="en-US" altLang="ja-JP" sz="1000" b="1" dirty="0"/>
                  <a:t>Y</a:t>
                </a:r>
                <a:r>
                  <a:rPr lang="ja-JP" altLang="en-US" sz="1000" dirty="0"/>
                  <a:t>。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定義（この論文で使っている形）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0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ja-JP" sz="1000" i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ja-JP" alt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ja-JP" sz="10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ja-JP" sz="1000" b="0" i="1">
                                          <a:latin typeface="Cambria Math" panose="02040503050406030204" pitchFamily="18" charset="0"/>
                                        </a:rPr>
                                        <m:t>cro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ja-JP" sz="1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ja-JP" altLang="en-US" sz="1000" b="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10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ja-JP" altLang="en-US" sz="1000" dirty="0"/>
                  <a:t>：</a:t>
                </a:r>
                <a:r>
                  <a:rPr lang="ja-JP" altLang="en-US" sz="1000" b="1" dirty="0"/>
                  <a:t>初期の球形液滴の直径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1000" b="0" i="1">
                            <a:latin typeface="Cambria Math" panose="02040503050406030204" pitchFamily="18" charset="0"/>
                          </a:rPr>
                          <m:t>cro</m:t>
                        </m:r>
                      </m:sub>
                    </m:sSub>
                  </m:oMath>
                </a14:m>
                <a:r>
                  <a:rPr lang="ja-JP" altLang="en-US" sz="1000" dirty="0"/>
                  <a:t>：</a:t>
                </a:r>
                <a:r>
                  <a:rPr lang="ja-JP" altLang="en-US" sz="1000" b="1" dirty="0"/>
                  <a:t>変形後の液滴の横方向（</a:t>
                </a:r>
                <a:r>
                  <a:rPr lang="en-US" altLang="ja-JP" sz="1000" b="1" dirty="0"/>
                  <a:t>cross-stream</a:t>
                </a:r>
                <a:r>
                  <a:rPr lang="ja-JP" altLang="en-US" sz="1000" b="1" dirty="0"/>
                  <a:t>）直径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物理的な意味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Y = 0</a:t>
                </a:r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1000" b="0" i="1">
                            <a:latin typeface="Cambria Math" panose="02040503050406030204" pitchFamily="18" charset="0"/>
                          </a:rPr>
                          <m:t>cro</m:t>
                        </m:r>
                      </m:sub>
                    </m:sSub>
                    <m:r>
                      <a:rPr lang="en-US" altLang="ja-JP" sz="1000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sz="1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b="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1000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ja-JP" altLang="en-US" sz="1000" dirty="0"/>
                </a:br>
                <a:r>
                  <a:rPr lang="ja-JP" altLang="en-US" sz="1000" dirty="0"/>
                  <a:t>→ 完全に球形、変形なし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0 &lt; Y &lt; 1</a:t>
                </a:r>
                <a:br>
                  <a:rPr lang="ja-JP" altLang="en-US" sz="1000" dirty="0"/>
                </a:br>
                <a:r>
                  <a:rPr lang="ja-JP" altLang="en-US" sz="1000" dirty="0"/>
                  <a:t>→ 液滴が空気力で</a:t>
                </a:r>
                <a:r>
                  <a:rPr lang="ja-JP" altLang="en-US" sz="1000" b="1" dirty="0"/>
                  <a:t>潰れて扁平化</a:t>
                </a:r>
                <a:r>
                  <a:rPr lang="ja-JP" altLang="en-US" sz="1000" dirty="0"/>
                  <a:t>している状態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Y → 1</a:t>
                </a:r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1000" b="0" i="1">
                            <a:latin typeface="Cambria Math" panose="02040503050406030204" pitchFamily="18" charset="0"/>
                          </a:rPr>
                          <m:t>cro</m:t>
                        </m:r>
                      </m:sub>
                    </m:sSub>
                    <m:r>
                      <a:rPr lang="ja-JP" altLang="en-US" sz="1000" b="0" i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ja-JP" altLang="en-US" sz="1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b="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1000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:r>
                  <a:rPr lang="ja-JP" altLang="en-US" sz="1000" b="1" dirty="0"/>
                  <a:t>ディスク状に近い強い変形</a:t>
                </a:r>
                <a:br>
                  <a:rPr lang="ja-JP" altLang="en-US" sz="1000" dirty="0"/>
                </a:br>
                <a:r>
                  <a:rPr lang="ja-JP" altLang="en-US" sz="1000" dirty="0"/>
                  <a:t>→ 破砕直前の状態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なぜこの形なのか？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ja-JP" altLang="en-US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ja-JP" sz="1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ja-JP" sz="1000" i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ja-JP" sz="1000" b="0" i="1">
                                    <a:latin typeface="Cambria Math" panose="02040503050406030204" pitchFamily="18" charset="0"/>
                                  </a:rPr>
                                  <m:t>cro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ja-JP" sz="10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000" dirty="0"/>
                  <a:t>は</a:t>
                </a:r>
                <a:br>
                  <a:rPr lang="ja-JP" altLang="en-US" sz="1000" dirty="0"/>
                </a:br>
                <a:r>
                  <a:rPr lang="ja-JP" altLang="en-US" sz="1000" b="1" dirty="0"/>
                  <a:t>「球形断面に対する変形後断面の比」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それを </a:t>
                </a:r>
                <a:r>
                  <a:rPr lang="en-US" altLang="ja-JP" sz="1000" dirty="0"/>
                  <a:t>1 </a:t>
                </a:r>
                <a:r>
                  <a:rPr lang="ja-JP" altLang="en-US" sz="1000" dirty="0"/>
                  <a:t>から引くことで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変形ゼロ → </a:t>
                </a:r>
                <a:r>
                  <a:rPr lang="en-US" altLang="ja-JP" sz="1000" dirty="0"/>
                  <a:t>0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極端な変形 → </a:t>
                </a:r>
                <a:r>
                  <a:rPr lang="en-US" altLang="ja-JP" sz="1000" dirty="0"/>
                  <a:t>1</a:t>
                </a:r>
                <a:br>
                  <a:rPr lang="en-US" altLang="ja-JP" sz="1000" dirty="0"/>
                </a:br>
                <a:r>
                  <a:rPr lang="ja-JP" altLang="en-US" sz="1000" dirty="0"/>
                  <a:t>になるよう設計されている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16A4475-AC87-190C-1387-C72A50A1D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4" y="616687"/>
                <a:ext cx="5071631" cy="53929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713A630-7C13-2AC2-F84B-C32EEE11E612}"/>
                  </a:ext>
                </a:extLst>
              </p:cNvPr>
              <p:cNvSpPr txBox="1"/>
              <p:nvPr/>
            </p:nvSpPr>
            <p:spPr>
              <a:xfrm>
                <a:off x="6096000" y="780407"/>
                <a:ext cx="5925128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000" b="1" dirty="0"/>
                  <a:t>この論文での役割</a:t>
                </a:r>
              </a:p>
              <a:p>
                <a:pPr>
                  <a:buFont typeface="+mj-lt"/>
                  <a:buAutoNum type="arabicPeriod"/>
                </a:pPr>
                <a:r>
                  <a:rPr lang="ja-JP" altLang="en-US" sz="1000" b="1" dirty="0"/>
                  <a:t>抗力係数の補正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ja-JP" sz="1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𝐷𝑆</m:t>
                          </m:r>
                        </m:sub>
                      </m:sSub>
                      <m:d>
                        <m:d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000" i="0">
                              <a:latin typeface="Cambria Math" panose="02040503050406030204" pitchFamily="18" charset="0"/>
                            </a:rPr>
                            <m:t>1+2.632</m:t>
                          </m:r>
                          <m:r>
                            <m:rPr>
                              <m:nor/>
                            </m:rPr>
                            <a:rPr lang="ja-JP" altLang="en-US" sz="10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ja-JP" altLang="en-US" sz="10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ja-JP" altLang="en-US" sz="1000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変形が進むほど抗力が増大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ディスクに近づくほど抵抗が大きくなる </a:t>
                </a:r>
              </a:p>
              <a:p>
                <a:pPr>
                  <a:buFont typeface="+mj-lt"/>
                  <a:buAutoNum type="arabicPeriod" startAt="2"/>
                </a:pPr>
                <a:r>
                  <a:rPr lang="ja-JP" altLang="en-US" sz="1000" b="1" dirty="0"/>
                  <a:t>破砕モデル（</a:t>
                </a:r>
                <a:r>
                  <a:rPr lang="en-US" altLang="ja-JP" sz="1000" b="1" dirty="0"/>
                  <a:t>TAB</a:t>
                </a:r>
                <a:r>
                  <a:rPr lang="ja-JP" altLang="en-US" sz="1000" b="1" dirty="0"/>
                  <a:t>）への入力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dirty="0"/>
                  <a:t>Y </a:t>
                </a:r>
                <a:r>
                  <a:rPr lang="ja-JP" altLang="en-US" sz="1000" dirty="0"/>
                  <a:t>は </a:t>
                </a:r>
                <a:r>
                  <a:rPr lang="en-US" altLang="ja-JP" sz="1000" dirty="0"/>
                  <a:t>TAB </a:t>
                </a:r>
                <a:r>
                  <a:rPr lang="ja-JP" altLang="en-US" sz="1000" dirty="0"/>
                  <a:t>方程式の状態変数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Y &gt; 1 </a:t>
                </a:r>
                <a:r>
                  <a:rPr lang="ja-JP" altLang="en-US" sz="1000" b="1" dirty="0"/>
                  <a:t>が破砕条件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超短い一文で言うと</a:t>
                </a:r>
              </a:p>
              <a:p>
                <a:pPr>
                  <a:buNone/>
                </a:pPr>
                <a:r>
                  <a:rPr lang="en-US" altLang="ja-JP" sz="1000" b="1" dirty="0"/>
                  <a:t>Y =</a:t>
                </a:r>
                <a:r>
                  <a:rPr lang="ja-JP" altLang="en-US" sz="1000" b="1" dirty="0"/>
                  <a:t>「液滴が球からどれだけ潰れているか」を表す無次元変形度</a:t>
                </a:r>
                <a:endParaRPr lang="ja-JP" altLang="en-US" sz="10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713A630-7C13-2AC2-F84B-C32EEE11E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80407"/>
                <a:ext cx="5925128" cy="1938992"/>
              </a:xfrm>
              <a:prstGeom prst="rect">
                <a:avLst/>
              </a:prstGeom>
              <a:blipFill>
                <a:blip r:embed="rId3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726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8F6A-61DA-9866-82C5-78BC846C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91F437DE-7962-A89B-7561-D53761DE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55" y="75142"/>
            <a:ext cx="11464290" cy="377825"/>
          </a:xfrm>
        </p:spPr>
        <p:txBody>
          <a:bodyPr>
            <a:normAutofit/>
          </a:bodyPr>
          <a:lstStyle/>
          <a:p>
            <a:r>
              <a:rPr lang="en-US" altLang="ja-JP" sz="1600" dirty="0"/>
              <a:t>Weber number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CB0D17E-A0F9-126E-66B4-6258DB6C94F0}"/>
                  </a:ext>
                </a:extLst>
              </p:cNvPr>
              <p:cNvSpPr txBox="1"/>
              <p:nvPr/>
            </p:nvSpPr>
            <p:spPr>
              <a:xfrm>
                <a:off x="276224" y="616687"/>
                <a:ext cx="5071631" cy="53929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ja-JP" sz="1000" b="1" dirty="0"/>
                  <a:t>Y </a:t>
                </a:r>
                <a:r>
                  <a:rPr lang="ja-JP" altLang="en-US" sz="1000" b="1" dirty="0"/>
                  <a:t>とは何か？</a:t>
                </a:r>
              </a:p>
              <a:p>
                <a:pPr>
                  <a:buNone/>
                </a:pPr>
                <a:r>
                  <a:rPr lang="en-US" altLang="ja-JP" sz="1000" b="1" dirty="0"/>
                  <a:t>Y </a:t>
                </a:r>
                <a:r>
                  <a:rPr lang="ja-JP" altLang="en-US" sz="1000" b="1" dirty="0"/>
                  <a:t>は「液滴がどれだけ潰れて変形しているか」を表す無次元量</a:t>
                </a:r>
                <a:r>
                  <a:rPr lang="ja-JP" altLang="en-US" sz="1000" dirty="0"/>
                  <a:t>だよ。</a:t>
                </a:r>
                <a:br>
                  <a:rPr lang="ja-JP" altLang="en-US" sz="1000" dirty="0"/>
                </a:br>
                <a:r>
                  <a:rPr lang="en-US" altLang="ja-JP" sz="1000" dirty="0"/>
                  <a:t>TAB</a:t>
                </a:r>
                <a:r>
                  <a:rPr lang="ja-JP" altLang="en-US" sz="1000" dirty="0"/>
                  <a:t>（</a:t>
                </a:r>
                <a:r>
                  <a:rPr lang="en-US" altLang="ja-JP" sz="1000" dirty="0"/>
                  <a:t>Taylor Analogy Breakup</a:t>
                </a:r>
                <a:r>
                  <a:rPr lang="ja-JP" altLang="en-US" sz="1000" dirty="0"/>
                  <a:t>）モデルでは、</a:t>
                </a:r>
                <a:r>
                  <a:rPr lang="ja-JP" altLang="en-US" sz="1000" b="1" dirty="0"/>
                  <a:t>液滴の変形度合い</a:t>
                </a:r>
                <a:r>
                  <a:rPr lang="ja-JP" altLang="en-US" sz="1000" dirty="0"/>
                  <a:t>を一つの指標で表す必要があって、それが </a:t>
                </a:r>
                <a:r>
                  <a:rPr lang="en-US" altLang="ja-JP" sz="1000" b="1" dirty="0"/>
                  <a:t>Y</a:t>
                </a:r>
                <a:r>
                  <a:rPr lang="ja-JP" altLang="en-US" sz="1000" dirty="0"/>
                  <a:t>。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定義（この論文で使っている形）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0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ja-JP" sz="1000" i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ja-JP" alt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ja-JP" sz="10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ja-JP" sz="1000" b="0" i="1">
                                          <a:latin typeface="Cambria Math" panose="02040503050406030204" pitchFamily="18" charset="0"/>
                                        </a:rPr>
                                        <m:t>cro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ja-JP" sz="1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ja-JP" altLang="en-US" sz="1000" b="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10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ja-JP" altLang="en-US" sz="1000" dirty="0"/>
                  <a:t>：</a:t>
                </a:r>
                <a:r>
                  <a:rPr lang="ja-JP" altLang="en-US" sz="1000" b="1" dirty="0"/>
                  <a:t>初期の球形液滴の直径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1000" b="0" i="1">
                            <a:latin typeface="Cambria Math" panose="02040503050406030204" pitchFamily="18" charset="0"/>
                          </a:rPr>
                          <m:t>cro</m:t>
                        </m:r>
                      </m:sub>
                    </m:sSub>
                  </m:oMath>
                </a14:m>
                <a:r>
                  <a:rPr lang="ja-JP" altLang="en-US" sz="1000" dirty="0"/>
                  <a:t>：</a:t>
                </a:r>
                <a:r>
                  <a:rPr lang="ja-JP" altLang="en-US" sz="1000" b="1" dirty="0"/>
                  <a:t>変形後の液滴の横方向（</a:t>
                </a:r>
                <a:r>
                  <a:rPr lang="en-US" altLang="ja-JP" sz="1000" b="1" dirty="0"/>
                  <a:t>cross-stream</a:t>
                </a:r>
                <a:r>
                  <a:rPr lang="ja-JP" altLang="en-US" sz="1000" b="1" dirty="0"/>
                  <a:t>）直径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物理的な意味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Y = 0</a:t>
                </a:r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1000" b="0" i="1">
                            <a:latin typeface="Cambria Math" panose="02040503050406030204" pitchFamily="18" charset="0"/>
                          </a:rPr>
                          <m:t>cro</m:t>
                        </m:r>
                      </m:sub>
                    </m:sSub>
                    <m:r>
                      <a:rPr lang="en-US" altLang="ja-JP" sz="1000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sz="1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b="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1000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ja-JP" altLang="en-US" sz="1000" dirty="0"/>
                </a:br>
                <a:r>
                  <a:rPr lang="ja-JP" altLang="en-US" sz="1000" dirty="0"/>
                  <a:t>→ 完全に球形、変形なし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0 &lt; Y &lt; 1</a:t>
                </a:r>
                <a:br>
                  <a:rPr lang="ja-JP" altLang="en-US" sz="1000" dirty="0"/>
                </a:br>
                <a:r>
                  <a:rPr lang="ja-JP" altLang="en-US" sz="1000" dirty="0"/>
                  <a:t>→ 液滴が空気力で</a:t>
                </a:r>
                <a:r>
                  <a:rPr lang="ja-JP" altLang="en-US" sz="1000" b="1" dirty="0"/>
                  <a:t>潰れて扁平化</a:t>
                </a:r>
                <a:r>
                  <a:rPr lang="ja-JP" altLang="en-US" sz="1000" dirty="0"/>
                  <a:t>している状態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Y → 1</a:t>
                </a:r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1000" b="0" i="1">
                            <a:latin typeface="Cambria Math" panose="02040503050406030204" pitchFamily="18" charset="0"/>
                          </a:rPr>
                          <m:t>cro</m:t>
                        </m:r>
                      </m:sub>
                    </m:sSub>
                    <m:r>
                      <a:rPr lang="ja-JP" altLang="en-US" sz="1000" b="0" i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ja-JP" altLang="en-US" sz="1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b="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1000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:r>
                  <a:rPr lang="ja-JP" altLang="en-US" sz="1000" b="1" dirty="0"/>
                  <a:t>ディスク状に近い強い変形</a:t>
                </a:r>
                <a:br>
                  <a:rPr lang="ja-JP" altLang="en-US" sz="1000" dirty="0"/>
                </a:br>
                <a:r>
                  <a:rPr lang="ja-JP" altLang="en-US" sz="1000" dirty="0"/>
                  <a:t>→ 破砕直前の状態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なぜこの形なのか？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ja-JP" altLang="en-US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ja-JP" sz="1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ja-JP" sz="1000" i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ja-JP" sz="1000" b="0" i="1">
                                    <a:latin typeface="Cambria Math" panose="02040503050406030204" pitchFamily="18" charset="0"/>
                                  </a:rPr>
                                  <m:t>cro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ja-JP" sz="10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000" dirty="0"/>
                  <a:t>は</a:t>
                </a:r>
                <a:br>
                  <a:rPr lang="ja-JP" altLang="en-US" sz="1000" dirty="0"/>
                </a:br>
                <a:r>
                  <a:rPr lang="ja-JP" altLang="en-US" sz="1000" b="1" dirty="0"/>
                  <a:t>「球形断面に対する変形後断面の比」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それを </a:t>
                </a:r>
                <a:r>
                  <a:rPr lang="en-US" altLang="ja-JP" sz="1000" dirty="0"/>
                  <a:t>1 </a:t>
                </a:r>
                <a:r>
                  <a:rPr lang="ja-JP" altLang="en-US" sz="1000" dirty="0"/>
                  <a:t>から引くことで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変形ゼロ → </a:t>
                </a:r>
                <a:r>
                  <a:rPr lang="en-US" altLang="ja-JP" sz="1000" dirty="0"/>
                  <a:t>0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極端な変形 → </a:t>
                </a:r>
                <a:r>
                  <a:rPr lang="en-US" altLang="ja-JP" sz="1000" dirty="0"/>
                  <a:t>1</a:t>
                </a:r>
                <a:br>
                  <a:rPr lang="en-US" altLang="ja-JP" sz="1000" dirty="0"/>
                </a:br>
                <a:r>
                  <a:rPr lang="ja-JP" altLang="en-US" sz="1000" dirty="0"/>
                  <a:t>になるよう設計されている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CB0D17E-A0F9-126E-66B4-6258DB6C9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4" y="616687"/>
                <a:ext cx="5071631" cy="53929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87280DCF-A7A5-54DD-1117-369CD115BDB5}"/>
                  </a:ext>
                </a:extLst>
              </p:cNvPr>
              <p:cNvSpPr txBox="1"/>
              <p:nvPr/>
            </p:nvSpPr>
            <p:spPr>
              <a:xfrm>
                <a:off x="6096000" y="780407"/>
                <a:ext cx="5925128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000" b="1" dirty="0"/>
                  <a:t>この論文での役割</a:t>
                </a:r>
              </a:p>
              <a:p>
                <a:pPr>
                  <a:buFont typeface="+mj-lt"/>
                  <a:buAutoNum type="arabicPeriod"/>
                </a:pPr>
                <a:r>
                  <a:rPr lang="ja-JP" altLang="en-US" sz="1000" b="1" dirty="0"/>
                  <a:t>抗力係数の補正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ja-JP" sz="1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𝐷𝑆</m:t>
                          </m:r>
                        </m:sub>
                      </m:sSub>
                      <m:d>
                        <m:d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000" i="0">
                              <a:latin typeface="Cambria Math" panose="02040503050406030204" pitchFamily="18" charset="0"/>
                            </a:rPr>
                            <m:t>1+2.632</m:t>
                          </m:r>
                          <m:r>
                            <m:rPr>
                              <m:nor/>
                            </m:rPr>
                            <a:rPr lang="ja-JP" altLang="en-US" sz="10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ja-JP" altLang="en-US" sz="10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ja-JP" altLang="en-US" sz="1000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変形が進むほど抗力が増大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ディスクに近づくほど抵抗が大きくなる </a:t>
                </a:r>
              </a:p>
              <a:p>
                <a:pPr>
                  <a:buFont typeface="+mj-lt"/>
                  <a:buAutoNum type="arabicPeriod" startAt="2"/>
                </a:pPr>
                <a:r>
                  <a:rPr lang="ja-JP" altLang="en-US" sz="1000" b="1" dirty="0"/>
                  <a:t>破砕モデル（</a:t>
                </a:r>
                <a:r>
                  <a:rPr lang="en-US" altLang="ja-JP" sz="1000" b="1" dirty="0"/>
                  <a:t>TAB</a:t>
                </a:r>
                <a:r>
                  <a:rPr lang="ja-JP" altLang="en-US" sz="1000" b="1" dirty="0"/>
                  <a:t>）への入力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dirty="0"/>
                  <a:t>Y </a:t>
                </a:r>
                <a:r>
                  <a:rPr lang="ja-JP" altLang="en-US" sz="1000" dirty="0"/>
                  <a:t>は </a:t>
                </a:r>
                <a:r>
                  <a:rPr lang="en-US" altLang="ja-JP" sz="1000" dirty="0"/>
                  <a:t>TAB </a:t>
                </a:r>
                <a:r>
                  <a:rPr lang="ja-JP" altLang="en-US" sz="1000" dirty="0"/>
                  <a:t>方程式の状態変数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Y &gt; 1 </a:t>
                </a:r>
                <a:r>
                  <a:rPr lang="ja-JP" altLang="en-US" sz="1000" b="1" dirty="0"/>
                  <a:t>が破砕条件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超短い一文で言うと</a:t>
                </a:r>
              </a:p>
              <a:p>
                <a:pPr>
                  <a:buNone/>
                </a:pPr>
                <a:r>
                  <a:rPr lang="en-US" altLang="ja-JP" sz="1000" b="1" dirty="0"/>
                  <a:t>Y =</a:t>
                </a:r>
                <a:r>
                  <a:rPr lang="ja-JP" altLang="en-US" sz="1000" b="1" dirty="0"/>
                  <a:t>「液滴が球からどれだけ潰れているか」を表す無次元変形度</a:t>
                </a:r>
                <a:endParaRPr lang="ja-JP" altLang="en-US" sz="10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87280DCF-A7A5-54DD-1117-369CD115B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80407"/>
                <a:ext cx="5925128" cy="1938992"/>
              </a:xfrm>
              <a:prstGeom prst="rect">
                <a:avLst/>
              </a:prstGeom>
              <a:blipFill>
                <a:blip r:embed="rId3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92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2FF9E-651E-FFE9-5F35-005EF383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2ED7482-685A-6C3A-B72E-614F34EB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55" y="75142"/>
            <a:ext cx="11464290" cy="377825"/>
          </a:xfrm>
        </p:spPr>
        <p:txBody>
          <a:bodyPr>
            <a:normAutofit/>
          </a:bodyPr>
          <a:lstStyle/>
          <a:p>
            <a:r>
              <a:rPr lang="en-US" altLang="ja-JP" sz="1600" dirty="0"/>
              <a:t>ASME2026</a:t>
            </a:r>
            <a:endParaRPr lang="ja-JP" altLang="en-US" sz="16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2A8771-7CB3-64C1-75B6-D4E5E9BA6A3E}"/>
              </a:ext>
            </a:extLst>
          </p:cNvPr>
          <p:cNvSpPr txBox="1"/>
          <p:nvPr/>
        </p:nvSpPr>
        <p:spPr>
          <a:xfrm>
            <a:off x="172413" y="673486"/>
            <a:ext cx="59235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b="1" dirty="0"/>
              <a:t>要点（ポイント列記）</a:t>
            </a:r>
            <a:endParaRPr lang="ja-JP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蒸気タービンでは、</a:t>
            </a:r>
            <a:r>
              <a:rPr lang="ja-JP" altLang="en-US" sz="1000" b="1" dirty="0"/>
              <a:t>液膜の微粒化で生じる粗大液滴によるエロージョン</a:t>
            </a:r>
            <a:r>
              <a:rPr lang="ja-JP" altLang="en-US" sz="1000" dirty="0"/>
              <a:t>が重要な課題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特に</a:t>
            </a:r>
            <a:r>
              <a:rPr lang="ja-JP" altLang="en-US" sz="1000" b="1" dirty="0"/>
              <a:t>オフデザイン運転</a:t>
            </a:r>
            <a:r>
              <a:rPr lang="ja-JP" altLang="en-US" sz="1000" dirty="0"/>
              <a:t>が増える中、凝縮液の挙動理解が不可欠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本研究は、</a:t>
            </a:r>
            <a:r>
              <a:rPr lang="ja-JP" altLang="en-US" sz="1000" b="1" dirty="0"/>
              <a:t>後縁下流のウェイク構造</a:t>
            </a:r>
            <a:r>
              <a:rPr lang="ja-JP" altLang="en-US" sz="1000" dirty="0"/>
              <a:t>に着目した液膜アトマイゼーションの実験研究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蒸気タービン最終段を模擬した</a:t>
            </a:r>
            <a:r>
              <a:rPr lang="ja-JP" altLang="en-US" sz="1000" b="1" dirty="0"/>
              <a:t>専用風洞</a:t>
            </a:r>
            <a:r>
              <a:rPr lang="ja-JP" altLang="en-US" sz="1000" dirty="0"/>
              <a:t>を構築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**ザウター平均径（</a:t>
            </a:r>
            <a:r>
              <a:rPr lang="en-US" altLang="ja-JP" sz="1000" dirty="0"/>
              <a:t>D₃₂</a:t>
            </a:r>
            <a:r>
              <a:rPr lang="ja-JP" altLang="en-US" sz="1000" dirty="0"/>
              <a:t>）**を、圧力条件を変えて評価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計測手法は</a:t>
            </a:r>
            <a:r>
              <a:rPr lang="ja-JP" altLang="en-US" sz="1000" b="1" dirty="0"/>
              <a:t>レーザー回折法＋画像解析</a:t>
            </a:r>
            <a:r>
              <a:rPr lang="ja-JP" altLang="en-US" sz="1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000" b="1" dirty="0"/>
              <a:t>Weber</a:t>
            </a:r>
            <a:r>
              <a:rPr lang="ja-JP" altLang="en-US" sz="1000" b="1" dirty="0"/>
              <a:t>数理論＋データ近似＋対数正規分布</a:t>
            </a:r>
            <a:r>
              <a:rPr lang="ja-JP" altLang="en-US" sz="1000" dirty="0"/>
              <a:t>に基づくモデルを提案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b="1" dirty="0"/>
              <a:t>二峰性粒径分布</a:t>
            </a:r>
            <a:r>
              <a:rPr lang="ja-JP" altLang="en-US" sz="1000" dirty="0"/>
              <a:t>のうち、大粒径モードの</a:t>
            </a:r>
            <a:r>
              <a:rPr lang="en-US" altLang="ja-JP" sz="1000" dirty="0"/>
              <a:t>D₃₂</a:t>
            </a:r>
            <a:r>
              <a:rPr lang="ja-JP" altLang="en-US" sz="1000" dirty="0"/>
              <a:t>と分布係数を予測可能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実験結果を</a:t>
            </a:r>
            <a:r>
              <a:rPr lang="ja-JP" altLang="en-US" sz="1000" b="1" dirty="0"/>
              <a:t>液滴追跡＋破砕のモンテカルロ計算</a:t>
            </a:r>
            <a:r>
              <a:rPr lang="ja-JP" altLang="en-US" sz="1000" dirty="0"/>
              <a:t>と比較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液滴破砕は </a:t>
            </a:r>
            <a:r>
              <a:rPr lang="en-US" altLang="ja-JP" sz="1000" b="1" dirty="0"/>
              <a:t>TAB</a:t>
            </a:r>
            <a:r>
              <a:rPr lang="ja-JP" altLang="en-US" sz="1000" b="1" dirty="0"/>
              <a:t>（</a:t>
            </a:r>
            <a:r>
              <a:rPr lang="en-US" altLang="ja-JP" sz="1000" b="1" dirty="0"/>
              <a:t>Taylor Analogy Breakup</a:t>
            </a:r>
            <a:r>
              <a:rPr lang="ja-JP" altLang="en-US" sz="1000" b="1" dirty="0"/>
              <a:t>）モデル</a:t>
            </a:r>
            <a:r>
              <a:rPr lang="ja-JP" altLang="en-US" sz="1000" dirty="0"/>
              <a:t>で記述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000" dirty="0"/>
              <a:t>CFD</a:t>
            </a:r>
            <a:r>
              <a:rPr lang="ja-JP" altLang="en-US" sz="1000" dirty="0"/>
              <a:t>で求めた風洞流れ場をシミュレーション入力に使用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想定最大径より</a:t>
            </a:r>
            <a:r>
              <a:rPr lang="ja-JP" altLang="en-US" sz="1000" b="1" dirty="0"/>
              <a:t>大きな液滴が存在</a:t>
            </a:r>
            <a:r>
              <a:rPr lang="ja-JP" altLang="en-US" sz="1000" dirty="0"/>
              <a:t>することを確認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その原因は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後縁背後の</a:t>
            </a:r>
            <a:r>
              <a:rPr lang="ja-JP" altLang="en-US" sz="1000" b="1" dirty="0"/>
              <a:t>薄いウェイク内での液滴生成</a:t>
            </a:r>
            <a:r>
              <a:rPr lang="ja-JP" altLang="en-US" sz="1000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ja-JP" altLang="en-US" sz="1000" b="1" dirty="0"/>
              <a:t>速度変動の影響</a:t>
            </a:r>
            <a:r>
              <a:rPr lang="ja-JP" altLang="en-US" sz="1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00" dirty="0"/>
              <a:t>これら</a:t>
            </a:r>
            <a:r>
              <a:rPr lang="ja-JP" altLang="en-US" sz="1000" b="1" dirty="0"/>
              <a:t>大粒径液滴はエロージョン評価に決定的に重要</a:t>
            </a:r>
            <a:endParaRPr lang="en-US" altLang="ja-JP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ja-JP" altLang="en-US" sz="10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486E22-F4FF-BA94-571A-A8B6CDD8D28E}"/>
              </a:ext>
            </a:extLst>
          </p:cNvPr>
          <p:cNvSpPr txBox="1"/>
          <p:nvPr/>
        </p:nvSpPr>
        <p:spPr>
          <a:xfrm>
            <a:off x="5904558" y="673486"/>
            <a:ext cx="5923587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b="1" dirty="0"/>
              <a:t>INTRODUCTION </a:t>
            </a:r>
            <a:r>
              <a:rPr lang="ja-JP" altLang="en-US" sz="1000" b="1" dirty="0"/>
              <a:t>要点</a:t>
            </a:r>
            <a:endParaRPr lang="ja-JP" altLang="en-US" sz="1000" dirty="0"/>
          </a:p>
          <a:p>
            <a:pPr lvl="1"/>
            <a:r>
              <a:rPr lang="ja-JP" altLang="en-US" sz="1000" dirty="0"/>
              <a:t>蒸気タービン内での</a:t>
            </a:r>
            <a:r>
              <a:rPr lang="ja-JP" altLang="en-US" sz="1000" b="1" dirty="0"/>
              <a:t>蒸気膨張中の液相挙動</a:t>
            </a:r>
            <a:r>
              <a:rPr lang="ja-JP" altLang="en-US" sz="1000" dirty="0"/>
              <a:t>が長年の研究テーマ </a:t>
            </a:r>
          </a:p>
          <a:p>
            <a:pPr lvl="1"/>
            <a:r>
              <a:rPr lang="ja-JP" altLang="en-US" sz="1000" dirty="0"/>
              <a:t>チェコ工科大学では</a:t>
            </a:r>
            <a:r>
              <a:rPr lang="en-US" altLang="ja-JP" sz="1000" b="1" dirty="0"/>
              <a:t>1960</a:t>
            </a:r>
            <a:r>
              <a:rPr lang="ja-JP" altLang="en-US" sz="1000" b="1" dirty="0"/>
              <a:t>年代から継続研究</a:t>
            </a:r>
            <a:r>
              <a:rPr lang="ja-JP" altLang="en-US" sz="1000" dirty="0"/>
              <a:t>、</a:t>
            </a:r>
            <a:r>
              <a:rPr lang="en-US" altLang="ja-JP" sz="1000" dirty="0"/>
              <a:t>Doosan Škoda Power </a:t>
            </a:r>
            <a:r>
              <a:rPr lang="ja-JP" altLang="en-US" sz="1000" dirty="0"/>
              <a:t>と産学連携 </a:t>
            </a:r>
          </a:p>
          <a:p>
            <a:pPr lvl="1"/>
            <a:r>
              <a:rPr lang="ja-JP" altLang="en-US" sz="1000" dirty="0"/>
              <a:t>現在の主題は</a:t>
            </a:r>
            <a:r>
              <a:rPr lang="ja-JP" altLang="en-US" sz="1000" b="1" dirty="0"/>
              <a:t>タービン内水膜の破砕（</a:t>
            </a:r>
            <a:r>
              <a:rPr lang="en-US" altLang="ja-JP" sz="1000" b="1" dirty="0"/>
              <a:t>film breakup</a:t>
            </a:r>
            <a:r>
              <a:rPr lang="ja-JP" altLang="en-US" sz="1000" b="1" dirty="0"/>
              <a:t>）</a:t>
            </a:r>
            <a:r>
              <a:rPr lang="ja-JP" altLang="en-US" sz="1000" dirty="0"/>
              <a:t> </a:t>
            </a:r>
          </a:p>
          <a:p>
            <a:pPr lvl="1"/>
            <a:r>
              <a:rPr lang="ja-JP" altLang="en-US" sz="1000" dirty="0"/>
              <a:t>最終段タービンを模擬した</a:t>
            </a:r>
            <a:r>
              <a:rPr lang="ja-JP" altLang="en-US" sz="1000" b="1" dirty="0"/>
              <a:t>風洞実験</a:t>
            </a:r>
            <a:r>
              <a:rPr lang="ja-JP" altLang="en-US" sz="1000" dirty="0"/>
              <a:t>で液滴挙動を研究 </a:t>
            </a:r>
          </a:p>
          <a:p>
            <a:pPr lvl="1"/>
            <a:r>
              <a:rPr lang="ja-JP" altLang="en-US" sz="1000" dirty="0"/>
              <a:t>過去研究では </a:t>
            </a:r>
          </a:p>
          <a:p>
            <a:pPr lvl="2"/>
            <a:r>
              <a:rPr lang="ja-JP" altLang="en-US" sz="1000" dirty="0"/>
              <a:t>液滴の帯電 、速度変動・速度分布が微粒化に与える影響を調査 </a:t>
            </a:r>
          </a:p>
          <a:p>
            <a:endParaRPr lang="ja-JP" altLang="en-US" sz="1000" dirty="0"/>
          </a:p>
          <a:p>
            <a:r>
              <a:rPr lang="ja-JP" altLang="en-US" sz="1000" b="1" dirty="0"/>
              <a:t>エロージョン問題の背景</a:t>
            </a:r>
            <a:endParaRPr lang="ja-JP" altLang="en-US" sz="1000" dirty="0"/>
          </a:p>
          <a:p>
            <a:pPr lvl="1"/>
            <a:r>
              <a:rPr lang="ja-JP" altLang="en-US" sz="1000" dirty="0"/>
              <a:t>翼面上の水膜から生じた</a:t>
            </a:r>
            <a:r>
              <a:rPr lang="ja-JP" altLang="en-US" sz="1000" b="1" dirty="0"/>
              <a:t>粗大液滴</a:t>
            </a:r>
            <a:r>
              <a:rPr lang="ja-JP" altLang="en-US" sz="1000" dirty="0"/>
              <a:t>が蒸気流に乗り下流翼に衝突 </a:t>
            </a:r>
          </a:p>
          <a:p>
            <a:pPr lvl="1"/>
            <a:r>
              <a:rPr lang="ja-JP" altLang="en-US" sz="1000" dirty="0"/>
              <a:t>回転翼では相対速度が大きくなり、</a:t>
            </a:r>
            <a:r>
              <a:rPr lang="ja-JP" altLang="en-US" sz="1000" b="1" dirty="0"/>
              <a:t>材料強度限界に近い応力</a:t>
            </a:r>
            <a:r>
              <a:rPr lang="ja-JP" altLang="en-US" sz="1000" dirty="0"/>
              <a:t>が発生 </a:t>
            </a:r>
          </a:p>
          <a:p>
            <a:pPr lvl="1"/>
            <a:r>
              <a:rPr lang="ja-JP" altLang="en-US" sz="1000" dirty="0"/>
              <a:t>繰り返し衝突により</a:t>
            </a:r>
            <a:r>
              <a:rPr lang="ja-JP" altLang="en-US" sz="1000" b="1" dirty="0"/>
              <a:t>局所的な翼エロージョン</a:t>
            </a:r>
            <a:r>
              <a:rPr lang="ja-JP" altLang="en-US" sz="1000" dirty="0"/>
              <a:t>が進行 </a:t>
            </a:r>
          </a:p>
          <a:p>
            <a:pPr lvl="1"/>
            <a:r>
              <a:rPr lang="ja-JP" altLang="en-US" sz="1000" dirty="0"/>
              <a:t>衝突エネルギーは </a:t>
            </a:r>
          </a:p>
          <a:p>
            <a:pPr lvl="2"/>
            <a:r>
              <a:rPr lang="ja-JP" altLang="en-US" sz="1000" dirty="0"/>
              <a:t>液滴速度 </a:t>
            </a:r>
          </a:p>
          <a:p>
            <a:pPr lvl="2"/>
            <a:r>
              <a:rPr lang="ja-JP" altLang="en-US" sz="1000" dirty="0"/>
              <a:t>質量 </a:t>
            </a:r>
          </a:p>
          <a:p>
            <a:pPr lvl="2"/>
            <a:r>
              <a:rPr lang="ja-JP" altLang="en-US" sz="1000" dirty="0"/>
              <a:t>入射角</a:t>
            </a:r>
            <a:br>
              <a:rPr lang="ja-JP" altLang="en-US" sz="1000" dirty="0"/>
            </a:br>
            <a:r>
              <a:rPr lang="ja-JP" altLang="en-US" sz="1000" dirty="0"/>
              <a:t>に依存 </a:t>
            </a:r>
          </a:p>
          <a:p>
            <a:r>
              <a:rPr lang="ja-JP" altLang="en-US" sz="1000" b="1" dirty="0"/>
              <a:t>最大径の液滴がエロージョン上もっとも危険</a:t>
            </a:r>
            <a:r>
              <a:rPr lang="ja-JP" altLang="en-US" sz="1000" dirty="0"/>
              <a:t> </a:t>
            </a:r>
          </a:p>
          <a:p>
            <a:r>
              <a:rPr lang="en-US" altLang="ja-JP" sz="1000" dirty="0"/>
              <a:t>Stokes</a:t>
            </a:r>
            <a:r>
              <a:rPr lang="ja-JP" altLang="en-US" sz="1000" dirty="0"/>
              <a:t>理論より、大粒径液滴は流れ追従性が悪く</a:t>
            </a:r>
            <a:r>
              <a:rPr lang="ja-JP" altLang="en-US" sz="1000" b="1" dirty="0"/>
              <a:t>高い相対速度で衝突しやすい</a:t>
            </a:r>
            <a:r>
              <a:rPr lang="ja-JP" altLang="en-US" sz="1000" dirty="0"/>
              <a:t> </a:t>
            </a:r>
          </a:p>
          <a:p>
            <a:br>
              <a:rPr lang="ja-JP" altLang="en-US" sz="1000" dirty="0"/>
            </a:br>
            <a:endParaRPr lang="ja-JP" altLang="en-US" sz="1000" dirty="0"/>
          </a:p>
          <a:p>
            <a:r>
              <a:rPr lang="ja-JP" altLang="en-US" sz="1000" b="1" dirty="0"/>
              <a:t>本研究の位置づけ・目的</a:t>
            </a:r>
            <a:endParaRPr lang="ja-JP" altLang="en-US" sz="1000" dirty="0"/>
          </a:p>
          <a:p>
            <a:pPr lvl="1"/>
            <a:r>
              <a:rPr lang="ja-JP" altLang="en-US" sz="1000" b="1" dirty="0"/>
              <a:t>流れ場と翼形状</a:t>
            </a:r>
            <a:r>
              <a:rPr lang="ja-JP" altLang="en-US" sz="1000" dirty="0"/>
              <a:t>から、水膜破砕で生じる液滴分布を予測する手法を提案 </a:t>
            </a:r>
          </a:p>
          <a:p>
            <a:pPr lvl="1"/>
            <a:r>
              <a:rPr lang="ja-JP" altLang="en-US" sz="1000" dirty="0"/>
              <a:t>運転条件下での</a:t>
            </a:r>
            <a:r>
              <a:rPr lang="ja-JP" altLang="en-US" sz="1000" b="1" dirty="0"/>
              <a:t>最大液滴径の推定</a:t>
            </a:r>
            <a:r>
              <a:rPr lang="ja-JP" altLang="en-US" sz="1000" dirty="0"/>
              <a:t>が目的 </a:t>
            </a:r>
          </a:p>
          <a:p>
            <a:pPr lvl="1"/>
            <a:r>
              <a:rPr lang="ja-JP" altLang="en-US" sz="1000" dirty="0"/>
              <a:t>得られた粒径分布は、</a:t>
            </a:r>
            <a:r>
              <a:rPr lang="ja-JP" altLang="en-US" sz="1000" b="1" dirty="0"/>
              <a:t>翼エロージョン評価モデルの入力</a:t>
            </a:r>
            <a:r>
              <a:rPr lang="ja-JP" altLang="en-US" sz="1000" dirty="0"/>
              <a:t>として利用可能 </a:t>
            </a:r>
          </a:p>
          <a:p>
            <a:br>
              <a:rPr lang="ja-JP" altLang="en-US" sz="1000" dirty="0"/>
            </a:br>
            <a:endParaRPr lang="ja-JP" altLang="en-US" sz="1000" dirty="0"/>
          </a:p>
          <a:p>
            <a:r>
              <a:rPr lang="ja-JP" altLang="en-US" sz="1000" b="1" dirty="0"/>
              <a:t>関連研究の整理</a:t>
            </a:r>
            <a:endParaRPr lang="ja-JP" altLang="en-US" sz="1000" dirty="0"/>
          </a:p>
          <a:p>
            <a:pPr lvl="1"/>
            <a:r>
              <a:rPr lang="ja-JP" altLang="en-US" sz="1000" dirty="0"/>
              <a:t>粗大液滴の</a:t>
            </a:r>
            <a:r>
              <a:rPr lang="ja-JP" altLang="en-US" sz="1000" b="1" dirty="0"/>
              <a:t>粒径・速度分布測定</a:t>
            </a:r>
            <a:r>
              <a:rPr lang="ja-JP" altLang="en-US" sz="1000" dirty="0"/>
              <a:t>（実機スケール風洞・</a:t>
            </a:r>
            <a:r>
              <a:rPr lang="en-US" altLang="ja-JP" sz="1000" dirty="0"/>
              <a:t>FRAP-OB</a:t>
            </a:r>
            <a:r>
              <a:rPr lang="ja-JP" altLang="en-US" sz="1000" dirty="0"/>
              <a:t>） </a:t>
            </a:r>
          </a:p>
          <a:p>
            <a:pPr lvl="1"/>
            <a:r>
              <a:rPr lang="ja-JP" altLang="en-US" sz="1000" dirty="0"/>
              <a:t>高速気流下での</a:t>
            </a:r>
            <a:r>
              <a:rPr lang="ja-JP" altLang="en-US" sz="1000" b="1" dirty="0"/>
              <a:t>翼上水膜挙動</a:t>
            </a:r>
            <a:r>
              <a:rPr lang="ja-JP" altLang="en-US" sz="1000" dirty="0"/>
              <a:t>（</a:t>
            </a:r>
            <a:r>
              <a:rPr lang="en-US" altLang="ja-JP" sz="1000" dirty="0"/>
              <a:t>CFD</a:t>
            </a:r>
            <a:r>
              <a:rPr lang="ja-JP" altLang="en-US" sz="1000" dirty="0"/>
              <a:t>＋</a:t>
            </a:r>
            <a:r>
              <a:rPr lang="en-US" altLang="ja-JP" sz="1000" dirty="0"/>
              <a:t>LIF</a:t>
            </a:r>
            <a:r>
              <a:rPr lang="ja-JP" altLang="en-US" sz="1000" dirty="0"/>
              <a:t>＋高速撮影＋レーザー回折） </a:t>
            </a:r>
          </a:p>
          <a:p>
            <a:pPr lvl="1"/>
            <a:r>
              <a:rPr lang="ja-JP" altLang="en-US" sz="1000" b="1" dirty="0"/>
              <a:t>湿り損失（</a:t>
            </a:r>
            <a:r>
              <a:rPr lang="en-US" altLang="ja-JP" sz="1000" b="1" dirty="0"/>
              <a:t>wetness loss</a:t>
            </a:r>
            <a:r>
              <a:rPr lang="ja-JP" altLang="en-US" sz="1000" b="1" dirty="0"/>
              <a:t>）評価手法</a:t>
            </a:r>
            <a:r>
              <a:rPr lang="ja-JP" altLang="en-US" sz="1000" dirty="0"/>
              <a:t>の体系化（</a:t>
            </a:r>
            <a:r>
              <a:rPr lang="en-US" altLang="ja-JP" sz="1000" dirty="0"/>
              <a:t>1D</a:t>
            </a:r>
            <a:r>
              <a:rPr lang="ja-JP" altLang="en-US" sz="1000" dirty="0"/>
              <a:t>＋</a:t>
            </a:r>
            <a:r>
              <a:rPr lang="en-US" altLang="ja-JP" sz="1000" dirty="0"/>
              <a:t>2D</a:t>
            </a:r>
            <a:r>
              <a:rPr lang="ja-JP" altLang="en-US" sz="1000" dirty="0"/>
              <a:t>モデル） </a:t>
            </a:r>
          </a:p>
          <a:p>
            <a:pPr lvl="1"/>
            <a:r>
              <a:rPr lang="ja-JP" altLang="en-US" sz="1000" dirty="0"/>
              <a:t>後縁からの</a:t>
            </a:r>
            <a:r>
              <a:rPr lang="ja-JP" altLang="en-US" sz="1000" b="1" dirty="0"/>
              <a:t>水膜破砕・リガメント分裂</a:t>
            </a:r>
            <a:r>
              <a:rPr lang="ja-JP" altLang="en-US" sz="1000" dirty="0"/>
              <a:t>に関する詳細データ取得 </a:t>
            </a:r>
          </a:p>
          <a:p>
            <a:pPr lvl="1"/>
            <a:r>
              <a:rPr lang="ja-JP" altLang="en-US" sz="1000" b="1" dirty="0"/>
              <a:t>分離スロットによる水膜除去</a:t>
            </a:r>
            <a:r>
              <a:rPr lang="ja-JP" altLang="en-US" sz="1000" dirty="0"/>
              <a:t>を用いたエロージョン低減研究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ja-JP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2521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9D0311-5890-BACC-6C6F-3EB9D685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9C552AC-D607-0C67-BD62-9540C0C8BB24}"/>
              </a:ext>
            </a:extLst>
          </p:cNvPr>
          <p:cNvSpPr txBox="1"/>
          <p:nvPr/>
        </p:nvSpPr>
        <p:spPr>
          <a:xfrm>
            <a:off x="295564" y="615522"/>
            <a:ext cx="6096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000" b="1" dirty="0"/>
              <a:t>2.1 The wind tunnel</a:t>
            </a:r>
            <a:r>
              <a:rPr lang="ja-JP" altLang="en-US" sz="1000" b="1" dirty="0"/>
              <a:t>｜要点</a:t>
            </a:r>
            <a:endParaRPr lang="ja-JP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000" b="1" dirty="0"/>
              <a:t>蒸気タービン最終段を模擬</a:t>
            </a:r>
            <a:r>
              <a:rPr lang="ja-JP" altLang="en-US" sz="1000" dirty="0"/>
              <a:t>するための専用風洞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000" dirty="0"/>
              <a:t>目的は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dirty="0"/>
              <a:t>水膜のアトマイゼーション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b="1" dirty="0">
                <a:highlight>
                  <a:srgbClr val="FFFF00"/>
                </a:highlight>
              </a:rPr>
              <a:t>粗大液滴の生成挙動</a:t>
            </a:r>
            <a:r>
              <a:rPr lang="ja-JP" altLang="en-US" sz="1000" dirty="0"/>
              <a:t>の観測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000" dirty="0"/>
              <a:t>風洞は</a:t>
            </a:r>
            <a:r>
              <a:rPr lang="en-US" altLang="ja-JP" sz="1000" b="1" dirty="0"/>
              <a:t>2</a:t>
            </a:r>
            <a:r>
              <a:rPr lang="ja-JP" altLang="en-US" sz="1000" b="1" dirty="0"/>
              <a:t>つの運転モード</a:t>
            </a:r>
            <a:r>
              <a:rPr lang="ja-JP" altLang="en-US" sz="1000" dirty="0"/>
              <a:t>を持つ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dirty="0"/>
              <a:t>圧縮機 → ノズル → </a:t>
            </a:r>
            <a:r>
              <a:rPr lang="ja-JP" altLang="en-US" sz="1000" dirty="0">
                <a:highlight>
                  <a:srgbClr val="FFFF00"/>
                </a:highlight>
              </a:rPr>
              <a:t>大気放出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b="1" dirty="0"/>
              <a:t>大気吸気＋</a:t>
            </a:r>
            <a:r>
              <a:rPr lang="ja-JP" altLang="en-US" sz="1000" b="1" dirty="0">
                <a:highlight>
                  <a:srgbClr val="FFFF00"/>
                </a:highlight>
              </a:rPr>
              <a:t>真空槽</a:t>
            </a:r>
            <a:r>
              <a:rPr lang="ja-JP" altLang="en-US" sz="1000" b="1" dirty="0"/>
              <a:t>による背圧制御</a:t>
            </a:r>
            <a:r>
              <a:rPr lang="ja-JP" altLang="en-US" sz="1000" dirty="0"/>
              <a:t>（本論文で使用）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000" dirty="0"/>
              <a:t>真空ポンプ＋</a:t>
            </a:r>
            <a:r>
              <a:rPr lang="ja-JP" altLang="en-US" sz="1000" dirty="0">
                <a:highlight>
                  <a:srgbClr val="FFFF00"/>
                </a:highlight>
              </a:rPr>
              <a:t>大容量容器</a:t>
            </a:r>
            <a:r>
              <a:rPr lang="ja-JP" altLang="en-US" sz="1000" dirty="0"/>
              <a:t>により</a:t>
            </a:r>
            <a:r>
              <a:rPr lang="ja-JP" altLang="en-US" sz="1000" b="1" dirty="0"/>
              <a:t>安定した運転条件</a:t>
            </a:r>
            <a:r>
              <a:rPr lang="ja-JP" altLang="en-US" sz="1000" dirty="0"/>
              <a:t>を確保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000" dirty="0"/>
              <a:t>空気は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dirty="0"/>
              <a:t>整流チャンバー（</a:t>
            </a:r>
            <a:r>
              <a:rPr lang="en-US" altLang="ja-JP" sz="1000" dirty="0"/>
              <a:t>settling chamber</a:t>
            </a:r>
            <a:r>
              <a:rPr lang="ja-JP" altLang="en-US" sz="1000" dirty="0"/>
              <a:t>）を通過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b="1" dirty="0"/>
              <a:t>収束ノズル</a:t>
            </a:r>
            <a:r>
              <a:rPr lang="ja-JP" altLang="en-US" sz="1000" dirty="0"/>
              <a:t>で加速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000" dirty="0"/>
              <a:t>ノズル下流に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b="1" dirty="0"/>
              <a:t>長さ</a:t>
            </a:r>
            <a:r>
              <a:rPr lang="en-US" altLang="ja-JP" sz="1000" b="1" dirty="0"/>
              <a:t>50 mm</a:t>
            </a:r>
            <a:r>
              <a:rPr lang="ja-JP" altLang="en-US" sz="1000" b="1" dirty="0"/>
              <a:t>の </a:t>
            </a:r>
            <a:r>
              <a:rPr lang="en-US" altLang="ja-JP" sz="1000" b="1" dirty="0"/>
              <a:t>NACA 0010 </a:t>
            </a:r>
            <a:r>
              <a:rPr lang="ja-JP" altLang="en-US" sz="1000" b="1" dirty="0"/>
              <a:t>翼</a:t>
            </a:r>
            <a:r>
              <a:rPr lang="ja-JP" altLang="en-US" sz="1000" dirty="0"/>
              <a:t>を設置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000" dirty="0"/>
              <a:t>翼表面にポンプで水を供給し、</a:t>
            </a:r>
            <a:r>
              <a:rPr lang="ja-JP" altLang="en-US" sz="1000" b="1" dirty="0"/>
              <a:t>薄い水膜</a:t>
            </a:r>
            <a:r>
              <a:rPr lang="ja-JP" altLang="en-US" sz="1000" dirty="0"/>
              <a:t>を形成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000" dirty="0"/>
              <a:t>水膜は</a:t>
            </a:r>
            <a:r>
              <a:rPr lang="ja-JP" altLang="en-US" sz="1000" b="1" dirty="0"/>
              <a:t>後縁で破砕</a:t>
            </a:r>
            <a:r>
              <a:rPr lang="ja-JP" altLang="en-US" sz="1000" dirty="0"/>
              <a:t>し、液滴を生成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000" b="1" dirty="0"/>
              <a:t>光学計測</a:t>
            </a:r>
            <a:r>
              <a:rPr lang="ja-JP" altLang="en-US" sz="1000" dirty="0"/>
              <a:t>により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dirty="0"/>
              <a:t>液滴径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dirty="0"/>
              <a:t>一次破砕挙動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dirty="0"/>
              <a:t>水膜厚さを評価可能 </a:t>
            </a:r>
          </a:p>
          <a:p>
            <a:r>
              <a:rPr lang="ja-JP" altLang="en-US" sz="1000" dirty="0"/>
              <a:t>　　　同時に取得する運転データ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dirty="0"/>
              <a:t>整流チャンバー内の圧力・温度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dirty="0"/>
              <a:t>風洞内</a:t>
            </a:r>
            <a:r>
              <a:rPr lang="en-US" altLang="ja-JP" sz="1000" dirty="0"/>
              <a:t>2</a:t>
            </a:r>
            <a:r>
              <a:rPr lang="ja-JP" altLang="en-US" sz="1000" dirty="0"/>
              <a:t>点の静圧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000" dirty="0"/>
              <a:t>水流量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000" dirty="0"/>
              <a:t>実験装置の全体構成は </a:t>
            </a:r>
            <a:r>
              <a:rPr lang="en-US" altLang="ja-JP" sz="1000" b="1" dirty="0"/>
              <a:t>Figure 1</a:t>
            </a:r>
            <a:r>
              <a:rPr lang="ja-JP" altLang="en-US" sz="1000" dirty="0"/>
              <a:t> に示されている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738401C-3A33-59A4-B1F7-B39464D095D1}"/>
              </a:ext>
            </a:extLst>
          </p:cNvPr>
          <p:cNvSpPr txBox="1"/>
          <p:nvPr/>
        </p:nvSpPr>
        <p:spPr>
          <a:xfrm>
            <a:off x="5394036" y="769410"/>
            <a:ext cx="6096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000" b="1" dirty="0"/>
              <a:t>2.1 The Wind Tunnel | Key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A dedicated wind tunnel was developed to simulate the final stage of a steam turbine.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Its purpose is to observe: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water-film atomization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the </a:t>
            </a:r>
            <a:r>
              <a:rPr lang="en-US" altLang="ja-JP" sz="1000" b="1" dirty="0"/>
              <a:t>generation behavior </a:t>
            </a:r>
            <a:r>
              <a:rPr lang="en-US" altLang="ja-JP" sz="1000" dirty="0"/>
              <a:t>of </a:t>
            </a:r>
            <a:r>
              <a:rPr lang="en-US" altLang="ja-JP" sz="1000" b="1" dirty="0"/>
              <a:t>coarse droplets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The wind tunnel has two operating modes: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compressor → nozzle → </a:t>
            </a:r>
            <a:r>
              <a:rPr lang="en-US" altLang="ja-JP" sz="1000" b="1" dirty="0"/>
              <a:t>exhaust to atmosphere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atmospheric intake with back-pressure control using a </a:t>
            </a:r>
            <a:r>
              <a:rPr lang="en-US" altLang="ja-JP" sz="1000" b="1" dirty="0"/>
              <a:t>vacuum tank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ja-JP" sz="1000" dirty="0"/>
              <a:t>this is the mode used in the present paper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Stable operating conditions are maintained by a vacuum pump </a:t>
            </a:r>
            <a:r>
              <a:rPr lang="en-US" altLang="ja-JP" sz="1000" b="1" dirty="0"/>
              <a:t>and a large-capacity vessel.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The airflow: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passes through a settling chamber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is accelerated through a converging nozzle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Downstream of the nozzle, a NACA 0010 blade with a length of 50 mm is installed.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Water is supplied to the blade surface by a pump to form a thin water film.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The water film breaks up at the trailing edge and generates droplets.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Optical measurements make it possible to evaluate: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droplet size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primary breakup behavior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water-film thickness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The following operating data are acquired simultaneously: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pressure and temperature in the settling chamber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static pressure at two points in the wind tunnel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000" dirty="0"/>
              <a:t>water flow rate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dirty="0"/>
              <a:t>The overall configuration of the experimental apparatus is shown in Figure 1. </a:t>
            </a:r>
          </a:p>
        </p:txBody>
      </p:sp>
    </p:spTree>
    <p:extLst>
      <p:ext uri="{BB962C8B-B14F-4D97-AF65-F5344CB8AC3E}">
        <p14:creationId xmlns:p14="http://schemas.microsoft.com/office/powerpoint/2010/main" val="164660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491F7F-D10B-4F8C-F85E-54F3428D7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The model of droplet acceleration and break up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EABAB89-8BF9-57BB-2523-5D24422EAFF1}"/>
                  </a:ext>
                </a:extLst>
              </p:cNvPr>
              <p:cNvSpPr txBox="1"/>
              <p:nvPr/>
            </p:nvSpPr>
            <p:spPr>
              <a:xfrm>
                <a:off x="455386" y="703526"/>
                <a:ext cx="5524500" cy="6059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000" b="1" dirty="0"/>
                  <a:t>要点列記（</a:t>
                </a:r>
                <a:r>
                  <a:rPr lang="en-US" altLang="ja-JP" sz="1000" b="1" dirty="0"/>
                  <a:t>2.4 </a:t>
                </a:r>
                <a:r>
                  <a:rPr lang="ja-JP" altLang="en-US" sz="1000" b="1" dirty="0"/>
                  <a:t>）</a:t>
                </a:r>
              </a:p>
              <a:p>
                <a:pPr>
                  <a:buNone/>
                </a:pPr>
                <a:r>
                  <a:rPr lang="ja-JP" altLang="en-US" sz="1000" b="1" dirty="0"/>
                  <a:t>流れ場評価（</a:t>
                </a:r>
                <a:r>
                  <a:rPr lang="en-US" altLang="ja-JP" sz="1000" b="1" dirty="0"/>
                  <a:t>Table 1</a:t>
                </a:r>
                <a:r>
                  <a:rPr lang="ja-JP" altLang="en-US" sz="1000" b="1" dirty="0"/>
                  <a:t>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dirty="0"/>
                  <a:t>CFD</a:t>
                </a:r>
                <a:r>
                  <a:rPr lang="ja-JP" altLang="en-US" sz="1000" dirty="0"/>
                  <a:t>により</a:t>
                </a:r>
                <a:r>
                  <a:rPr lang="ja-JP" altLang="en-US" sz="1000" b="1" dirty="0"/>
                  <a:t>後縁位置での速度分布とウェイク速度</a:t>
                </a:r>
                <a:r>
                  <a:rPr lang="ja-JP" altLang="en-US" sz="1000" dirty="0"/>
                  <a:t>を定量化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圧力比低下（</a:t>
                </a:r>
                <a:r>
                  <a:rPr lang="en-US" altLang="ja-JP" sz="1000" dirty="0" err="1"/>
                  <a:t>p_out</a:t>
                </a:r>
                <a:r>
                  <a:rPr lang="en-US" altLang="ja-JP" sz="1000" dirty="0"/>
                  <a:t>/</a:t>
                </a:r>
                <a:r>
                  <a:rPr lang="en-US" altLang="ja-JP" sz="1000" dirty="0" err="1"/>
                  <a:t>p_in</a:t>
                </a:r>
                <a:r>
                  <a:rPr lang="en-US" altLang="ja-JP" sz="1000" dirty="0"/>
                  <a:t> ↓</a:t>
                </a:r>
                <a:r>
                  <a:rPr lang="ja-JP" altLang="en-US" sz="1000" dirty="0"/>
                  <a:t>）により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主流最大速度 ↑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ウェイク速度も増加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後縁付近では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主流（</a:t>
                </a:r>
                <a:r>
                  <a:rPr lang="en-US" altLang="ja-JP" sz="1000" dirty="0"/>
                  <a:t>~200–250 m/s</a:t>
                </a:r>
                <a:r>
                  <a:rPr lang="ja-JP" altLang="en-US" sz="1000" dirty="0"/>
                  <a:t>）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ウェイク（</a:t>
                </a:r>
                <a:r>
                  <a:rPr lang="en-US" altLang="ja-JP" sz="1000" dirty="0"/>
                  <a:t>~30–50 m/s</a:t>
                </a:r>
                <a:r>
                  <a:rPr lang="ja-JP" altLang="en-US" sz="1000" dirty="0"/>
                  <a:t>）</a:t>
                </a:r>
                <a:br>
                  <a:rPr lang="ja-JP" altLang="en-US" sz="1000" dirty="0"/>
                </a:br>
                <a:r>
                  <a:rPr lang="ja-JP" altLang="en-US" sz="1000" dirty="0"/>
                  <a:t>の</a:t>
                </a:r>
                <a:r>
                  <a:rPr lang="ja-JP" altLang="en-US" sz="1000" b="1" dirty="0"/>
                  <a:t>大きな速度差</a:t>
                </a:r>
                <a:r>
                  <a:rPr lang="ja-JP" altLang="en-US" sz="1000" dirty="0"/>
                  <a:t>が存在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モデル導入の目的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光学計測では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最大液滴は統計的に捕捉困難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そのため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モンテカルロ法による液滴追跡＋破砕判定</a:t>
                </a:r>
                <a:br>
                  <a:rPr lang="ja-JP" altLang="en-US" sz="1000" dirty="0"/>
                </a:br>
                <a:r>
                  <a:rPr lang="ja-JP" altLang="en-US" sz="1000" dirty="0"/>
                  <a:t>を併用し、最大液滴を評価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液滴加速モデル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>
                    <a:highlight>
                      <a:srgbClr val="FFFF00"/>
                    </a:highlight>
                  </a:rPr>
                  <a:t>液滴（</a:t>
                </a:r>
                <a:r>
                  <a:rPr lang="en-US" altLang="ja-JP" sz="1000" dirty="0">
                    <a:highlight>
                      <a:srgbClr val="FFFF00"/>
                    </a:highlight>
                  </a:rPr>
                  <a:t>d &gt; 1 µm</a:t>
                </a:r>
                <a:r>
                  <a:rPr lang="ja-JP" altLang="en-US" sz="1000" dirty="0">
                    <a:highlight>
                      <a:srgbClr val="FFFF00"/>
                    </a:highlight>
                  </a:rPr>
                  <a:t>）に作用する力は</a:t>
                </a:r>
                <a:r>
                  <a:rPr lang="ja-JP" altLang="en-US" sz="1000" b="1" dirty="0">
                    <a:highlight>
                      <a:srgbClr val="FFFF00"/>
                    </a:highlight>
                  </a:rPr>
                  <a:t>抗力のみ</a:t>
                </a:r>
                <a:r>
                  <a:rPr lang="ja-JP" altLang="en-US" sz="1000" dirty="0">
                    <a:highlight>
                      <a:srgbClr val="FFFF00"/>
                    </a:highlight>
                  </a:rPr>
                  <a:t>を考慮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抗力式：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ja-JP" sz="10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f>
                      <m:f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ja-JP" sz="1000" i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sSup>
                      <m:sSup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10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ja-JP" sz="10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ja-JP" altLang="en-US" sz="1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運動方程式：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ja-JP" sz="1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1000" i="1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ja-JP" altLang="en-US" sz="1000" dirty="0"/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抗力係数モデル（</a:t>
                </a:r>
                <a:r>
                  <a:rPr lang="en-US" altLang="ja-JP" sz="1000" b="1" dirty="0"/>
                  <a:t>Table 2</a:t>
                </a:r>
                <a:r>
                  <a:rPr lang="ja-JP" altLang="en-US" sz="1000" b="1" dirty="0"/>
                  <a:t>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レイノルズ数に応じて</a:t>
                </a:r>
                <a:r>
                  <a:rPr lang="en-US" altLang="ja-JP" sz="1000" dirty="0"/>
                  <a:t>3</a:t>
                </a:r>
                <a:r>
                  <a:rPr lang="ja-JP" altLang="en-US" sz="1000" dirty="0"/>
                  <a:t>領域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Stokes</a:t>
                </a:r>
                <a:r>
                  <a:rPr lang="ja-JP" altLang="en-US" sz="1000" b="1" dirty="0"/>
                  <a:t>領域</a:t>
                </a:r>
                <a:r>
                  <a:rPr lang="ja-JP" altLang="en-US" sz="1000" dirty="0"/>
                  <a:t>（</a:t>
                </a:r>
                <a:r>
                  <a:rPr lang="en-US" altLang="ja-JP" sz="1000" dirty="0"/>
                  <a:t>Re &lt; 1</a:t>
                </a:r>
                <a:r>
                  <a:rPr lang="ja-JP" altLang="en-US" sz="1000" dirty="0"/>
                  <a:t>）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遷移領域</a:t>
                </a:r>
                <a:r>
                  <a:rPr lang="ja-JP" altLang="en-US" sz="1000" dirty="0"/>
                  <a:t>（</a:t>
                </a:r>
                <a:r>
                  <a:rPr lang="en-US" altLang="ja-JP" sz="1000" dirty="0"/>
                  <a:t>1 ≤ Re ≤ 1000</a:t>
                </a:r>
                <a:r>
                  <a:rPr lang="ja-JP" altLang="en-US" sz="1000" dirty="0"/>
                  <a:t>）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Newton</a:t>
                </a:r>
                <a:r>
                  <a:rPr lang="ja-JP" altLang="en-US" sz="1000" b="1" dirty="0"/>
                  <a:t>領域</a:t>
                </a:r>
                <a:r>
                  <a:rPr lang="ja-JP" altLang="en-US" sz="1000" dirty="0"/>
                  <a:t>（</a:t>
                </a:r>
                <a:r>
                  <a:rPr lang="en-US" altLang="ja-JP" sz="1000" dirty="0"/>
                  <a:t>Re &gt; 1000</a:t>
                </a:r>
                <a:r>
                  <a:rPr lang="ja-JP" altLang="en-US" sz="1000" dirty="0"/>
                  <a:t>）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本風洞条件では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主に </a:t>
                </a:r>
                <a:r>
                  <a:rPr lang="en-US" altLang="ja-JP" sz="1000" b="1" dirty="0"/>
                  <a:t>Stokes</a:t>
                </a:r>
                <a:r>
                  <a:rPr lang="ja-JP" altLang="en-US" sz="1000" b="1" dirty="0"/>
                  <a:t>領域</a:t>
                </a:r>
                <a:r>
                  <a:rPr lang="ja-JP" altLang="en-US" sz="1000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初期に遷移領域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EABAB89-8BF9-57BB-2523-5D24422EA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86" y="703526"/>
                <a:ext cx="5524500" cy="60592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A2EE94C6-13F0-5824-B161-D991F070B063}"/>
                  </a:ext>
                </a:extLst>
              </p:cNvPr>
              <p:cNvSpPr txBox="1"/>
              <p:nvPr/>
            </p:nvSpPr>
            <p:spPr>
              <a:xfrm>
                <a:off x="6437539" y="840037"/>
                <a:ext cx="5105400" cy="5786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000" b="1" dirty="0"/>
                  <a:t>変形液滴の抗力補正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液滴変形により抗力係数は増加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dirty="0"/>
                  <a:t>Liu et al. </a:t>
                </a:r>
                <a:r>
                  <a:rPr lang="ja-JP" altLang="en-US" sz="1000" dirty="0"/>
                  <a:t>モデルを使用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ja-JP" sz="10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d>
                      <m:d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000" i="0">
                            <a:latin typeface="Cambria Math" panose="02040503050406030204" pitchFamily="18" charset="0"/>
                          </a:rPr>
                          <m:t>1+2.632</m:t>
                        </m:r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ja-JP" altLang="en-US" sz="1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変形量指標：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ja-JP" altLang="en-US" sz="1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ja-JP" sz="1000" i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ja-JP" altLang="en-US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ja-JP" sz="1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ja-JP" sz="1000" i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  <m:t>𝑐𝑟𝑜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ja-JP" sz="10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ja-JP" altLang="en-US" sz="1000" dirty="0"/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液滴破砕モデル（</a:t>
                </a:r>
                <a:r>
                  <a:rPr lang="en-US" altLang="ja-JP" sz="1000" b="1" dirty="0"/>
                  <a:t>TAB</a:t>
                </a:r>
                <a:r>
                  <a:rPr lang="ja-JP" altLang="en-US" sz="1000" b="1" dirty="0"/>
                  <a:t>モデル）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Taylor Analogy Breakup (TAB)</a:t>
                </a:r>
                <a:r>
                  <a:rPr lang="ja-JP" altLang="en-US" sz="1000" dirty="0"/>
                  <a:t> モデルを採用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液滴変形を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ばね</a:t>
                </a:r>
                <a:r>
                  <a:rPr lang="en-US" altLang="ja-JP" sz="1000" b="1" dirty="0"/>
                  <a:t>–</a:t>
                </a:r>
                <a:r>
                  <a:rPr lang="ja-JP" altLang="en-US" sz="1000" b="1" dirty="0"/>
                  <a:t>質点系</a:t>
                </a:r>
                <a:r>
                  <a:rPr lang="ja-JP" altLang="en-US" sz="1000" dirty="0"/>
                  <a:t>に類推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状態変数：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無次元赤道変位 </a:t>
                </a:r>
                <a14:m>
                  <m:oMath xmlns:m="http://schemas.openxmlformats.org/officeDocument/2006/math">
                    <m:r>
                      <a:rPr lang="ja-JP" altLang="en-US" sz="1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ja-JP" altLang="en-US" sz="1000" dirty="0"/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en-US" altLang="ja-JP" sz="1000" b="1" dirty="0"/>
                  <a:t>TAB</a:t>
                </a:r>
                <a:r>
                  <a:rPr lang="ja-JP" altLang="en-US" sz="1000" b="1" dirty="0"/>
                  <a:t>モデルの支配方程式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強制項：空気力学的圧力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復元項：表面張力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減衰項：液体粘性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係数は水滴用の標準値（</a:t>
                </a:r>
                <a:r>
                  <a:rPr lang="en-US" altLang="ja-JP" sz="1000" dirty="0"/>
                  <a:t>Table 3</a:t>
                </a:r>
                <a:r>
                  <a:rPr lang="ja-JP" altLang="en-US" sz="1000" dirty="0"/>
                  <a:t>）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破砕判定基準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y &gt; 1</a:t>
                </a:r>
                <a:r>
                  <a:rPr lang="ja-JP" altLang="en-US" sz="1000" dirty="0"/>
                  <a:t> で液滴破砕が発生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臨界 </a:t>
                </a:r>
                <a:r>
                  <a:rPr lang="en-US" altLang="ja-JP" sz="1000" dirty="0"/>
                  <a:t>Weber </a:t>
                </a:r>
                <a:r>
                  <a:rPr lang="ja-JP" altLang="en-US" sz="1000" dirty="0"/>
                  <a:t>数近傍の破砕を記述可能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この節の本質（ひとことで）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「主流では壊れるはずの液滴が、低速な後縁ウェイクでは生き残り得る」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それを </a:t>
                </a:r>
                <a:r>
                  <a:rPr lang="ja-JP" altLang="en-US" sz="1000" b="1" dirty="0"/>
                  <a:t>物理モデル＋確率論（</a:t>
                </a:r>
                <a:r>
                  <a:rPr lang="en-US" altLang="ja-JP" sz="1000" b="1" dirty="0"/>
                  <a:t>Monte Carlo</a:t>
                </a:r>
                <a:r>
                  <a:rPr lang="ja-JP" altLang="en-US" sz="1000" b="1" dirty="0"/>
                  <a:t>）</a:t>
                </a:r>
                <a:r>
                  <a:rPr lang="ja-JP" altLang="en-US" sz="1000" dirty="0"/>
                  <a:t> で裏取りするための基盤モデル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dirty="0"/>
                  <a:t>もし次にやるなら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突っ込まれやすい点（</a:t>
                </a:r>
                <a:r>
                  <a:rPr lang="en-US" altLang="ja-JP" sz="1000" b="1" dirty="0"/>
                  <a:t>TAB</a:t>
                </a:r>
                <a:r>
                  <a:rPr lang="ja-JP" altLang="en-US" sz="1000" b="1" dirty="0"/>
                  <a:t>モデル妥当性・</a:t>
                </a:r>
                <a:r>
                  <a:rPr lang="en-US" altLang="ja-JP" sz="1000" b="1" dirty="0"/>
                  <a:t>Re</a:t>
                </a:r>
                <a:r>
                  <a:rPr lang="ja-JP" altLang="en-US" sz="1000" b="1" dirty="0"/>
                  <a:t>範囲）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“なぜ</a:t>
                </a:r>
                <a:r>
                  <a:rPr lang="en-US" altLang="ja-JP" sz="1000" b="1" dirty="0"/>
                  <a:t>We</a:t>
                </a:r>
                <a:r>
                  <a:rPr lang="ja-JP" altLang="en-US" sz="1000" b="1" dirty="0"/>
                  <a:t>数だけでは足りないか”の一文要約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:r>
                  <a:rPr lang="ja-JP" altLang="en-US" sz="1000" dirty="0"/>
                  <a:t>も一緒に整理できるけど、どうする？</a:t>
                </a: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A2EE94C6-13F0-5824-B161-D991F070B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539" y="840037"/>
                <a:ext cx="5105400" cy="57861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52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3414-408F-E69B-59D1-511FD14E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EBECBC2-FF38-93A3-B129-8E9135766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28" y="102851"/>
            <a:ext cx="11464290" cy="377825"/>
          </a:xfrm>
        </p:spPr>
        <p:txBody>
          <a:bodyPr>
            <a:normAutofit/>
          </a:bodyPr>
          <a:lstStyle/>
          <a:p>
            <a:r>
              <a:rPr lang="en-US" altLang="ja-JP" b="1" dirty="0"/>
              <a:t>Y </a:t>
            </a:r>
            <a:r>
              <a:rPr lang="ja-JP" altLang="en-US" b="1" dirty="0"/>
              <a:t>は「液滴がどれだけ潰れて変形しているか」を表す無次元量</a:t>
            </a:r>
            <a:endParaRPr lang="ja-JP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094699FC-1473-E43D-C7C1-EFE20A901AF8}"/>
                  </a:ext>
                </a:extLst>
              </p:cNvPr>
              <p:cNvSpPr txBox="1"/>
              <p:nvPr/>
            </p:nvSpPr>
            <p:spPr>
              <a:xfrm>
                <a:off x="276224" y="616687"/>
                <a:ext cx="5071631" cy="53929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ja-JP" sz="1000" b="1" dirty="0"/>
                  <a:t>Y </a:t>
                </a:r>
                <a:r>
                  <a:rPr lang="ja-JP" altLang="en-US" sz="1000" b="1" dirty="0"/>
                  <a:t>とは何か？</a:t>
                </a:r>
              </a:p>
              <a:p>
                <a:pPr>
                  <a:buNone/>
                </a:pPr>
                <a:r>
                  <a:rPr lang="en-US" altLang="ja-JP" sz="1000" b="1" dirty="0"/>
                  <a:t>Y </a:t>
                </a:r>
                <a:r>
                  <a:rPr lang="ja-JP" altLang="en-US" sz="1000" b="1" dirty="0"/>
                  <a:t>は「液滴がどれだけ潰れて変形しているか」を表す無次元量</a:t>
                </a:r>
                <a:r>
                  <a:rPr lang="ja-JP" altLang="en-US" sz="1000" dirty="0"/>
                  <a:t>だよ。</a:t>
                </a:r>
                <a:br>
                  <a:rPr lang="ja-JP" altLang="en-US" sz="1000" dirty="0"/>
                </a:br>
                <a:r>
                  <a:rPr lang="en-US" altLang="ja-JP" sz="1000" dirty="0"/>
                  <a:t>TAB</a:t>
                </a:r>
                <a:r>
                  <a:rPr lang="ja-JP" altLang="en-US" sz="1000" dirty="0"/>
                  <a:t>（</a:t>
                </a:r>
                <a:r>
                  <a:rPr lang="en-US" altLang="ja-JP" sz="1000" dirty="0"/>
                  <a:t>Taylor Analogy Breakup</a:t>
                </a:r>
                <a:r>
                  <a:rPr lang="ja-JP" altLang="en-US" sz="1000" dirty="0"/>
                  <a:t>）モデルでは、</a:t>
                </a:r>
                <a:r>
                  <a:rPr lang="ja-JP" altLang="en-US" sz="1000" b="1" dirty="0"/>
                  <a:t>液滴の変形度合い</a:t>
                </a:r>
                <a:r>
                  <a:rPr lang="ja-JP" altLang="en-US" sz="1000" dirty="0"/>
                  <a:t>を一つの指標で表す必要があって、それが </a:t>
                </a:r>
                <a:r>
                  <a:rPr lang="en-US" altLang="ja-JP" sz="1000" b="1" dirty="0"/>
                  <a:t>Y</a:t>
                </a:r>
                <a:r>
                  <a:rPr lang="ja-JP" altLang="en-US" sz="1000" dirty="0"/>
                  <a:t>。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定義（この論文で使っている形）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0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ja-JP" sz="1000" i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ja-JP" alt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ja-JP" sz="10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1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ja-JP" sz="1000" b="0" i="1">
                                          <a:latin typeface="Cambria Math" panose="02040503050406030204" pitchFamily="18" charset="0"/>
                                        </a:rPr>
                                        <m:t>cro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ja-JP" sz="1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ja-JP" altLang="en-US" sz="1000" b="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10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ja-JP" altLang="en-US" sz="1000" dirty="0"/>
                  <a:t>：</a:t>
                </a:r>
                <a:r>
                  <a:rPr lang="ja-JP" altLang="en-US" sz="1000" b="1" dirty="0"/>
                  <a:t>初期の球形液滴の直径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1000" b="0" i="1">
                            <a:latin typeface="Cambria Math" panose="02040503050406030204" pitchFamily="18" charset="0"/>
                          </a:rPr>
                          <m:t>cro</m:t>
                        </m:r>
                      </m:sub>
                    </m:sSub>
                  </m:oMath>
                </a14:m>
                <a:r>
                  <a:rPr lang="ja-JP" altLang="en-US" sz="1000" dirty="0"/>
                  <a:t>：</a:t>
                </a:r>
                <a:r>
                  <a:rPr lang="ja-JP" altLang="en-US" sz="1000" b="1" dirty="0"/>
                  <a:t>変形後の液滴の横方向（</a:t>
                </a:r>
                <a:r>
                  <a:rPr lang="en-US" altLang="ja-JP" sz="1000" b="1" dirty="0"/>
                  <a:t>cross-stream</a:t>
                </a:r>
                <a:r>
                  <a:rPr lang="ja-JP" altLang="en-US" sz="1000" b="1" dirty="0"/>
                  <a:t>）直径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物理的な意味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Y = 0</a:t>
                </a:r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1000" b="0" i="1">
                            <a:latin typeface="Cambria Math" panose="02040503050406030204" pitchFamily="18" charset="0"/>
                          </a:rPr>
                          <m:t>cro</m:t>
                        </m:r>
                      </m:sub>
                    </m:sSub>
                    <m:r>
                      <a:rPr lang="en-US" altLang="ja-JP" sz="1000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sz="1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b="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1000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ja-JP" altLang="en-US" sz="1000" dirty="0"/>
                </a:br>
                <a:r>
                  <a:rPr lang="ja-JP" altLang="en-US" sz="1000" dirty="0"/>
                  <a:t>→ 完全に球形、変形なし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0 &lt; Y &lt; 1</a:t>
                </a:r>
                <a:br>
                  <a:rPr lang="ja-JP" altLang="en-US" sz="1000" dirty="0"/>
                </a:br>
                <a:r>
                  <a:rPr lang="ja-JP" altLang="en-US" sz="1000" dirty="0"/>
                  <a:t>→ 液滴が空気力で</a:t>
                </a:r>
                <a:r>
                  <a:rPr lang="ja-JP" altLang="en-US" sz="1000" b="1" dirty="0"/>
                  <a:t>潰れて扁平化</a:t>
                </a:r>
                <a:r>
                  <a:rPr lang="ja-JP" altLang="en-US" sz="1000" dirty="0"/>
                  <a:t>している状態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Y → 1</a:t>
                </a:r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1000" b="0" i="1">
                            <a:latin typeface="Cambria Math" panose="02040503050406030204" pitchFamily="18" charset="0"/>
                          </a:rPr>
                          <m:t>cro</m:t>
                        </m:r>
                      </m:sub>
                    </m:sSub>
                    <m:r>
                      <a:rPr lang="ja-JP" altLang="en-US" sz="1000" b="0" i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ja-JP" altLang="en-US" sz="1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b="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1000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:r>
                  <a:rPr lang="ja-JP" altLang="en-US" sz="1000" b="1" dirty="0"/>
                  <a:t>ディスク状に近い強い変形</a:t>
                </a:r>
                <a:br>
                  <a:rPr lang="ja-JP" altLang="en-US" sz="1000" dirty="0"/>
                </a:br>
                <a:r>
                  <a:rPr lang="ja-JP" altLang="en-US" sz="1000" dirty="0"/>
                  <a:t>→ 破砕直前の状態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なぜこの形なのか？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ja-JP" altLang="en-US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ja-JP" sz="1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ja-JP" sz="1000" i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sz="1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ja-JP" sz="1000" b="0" i="1">
                                    <a:latin typeface="Cambria Math" panose="02040503050406030204" pitchFamily="18" charset="0"/>
                                  </a:rPr>
                                  <m:t>cro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ja-JP" sz="10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000" dirty="0"/>
                  <a:t>は</a:t>
                </a:r>
                <a:br>
                  <a:rPr lang="ja-JP" altLang="en-US" sz="1000" dirty="0"/>
                </a:br>
                <a:r>
                  <a:rPr lang="ja-JP" altLang="en-US" sz="1000" b="1" dirty="0"/>
                  <a:t>「球形断面に対する変形後断面の比」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それを </a:t>
                </a:r>
                <a:r>
                  <a:rPr lang="en-US" altLang="ja-JP" sz="1000" dirty="0"/>
                  <a:t>1 </a:t>
                </a:r>
                <a:r>
                  <a:rPr lang="ja-JP" altLang="en-US" sz="1000" dirty="0"/>
                  <a:t>から引くことで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変形ゼロ → </a:t>
                </a:r>
                <a:r>
                  <a:rPr lang="en-US" altLang="ja-JP" sz="1000" dirty="0"/>
                  <a:t>0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極端な変形 → </a:t>
                </a:r>
                <a:r>
                  <a:rPr lang="en-US" altLang="ja-JP" sz="1000" dirty="0"/>
                  <a:t>1</a:t>
                </a:r>
                <a:br>
                  <a:rPr lang="en-US" altLang="ja-JP" sz="1000" dirty="0"/>
                </a:br>
                <a:r>
                  <a:rPr lang="ja-JP" altLang="en-US" sz="1000" dirty="0"/>
                  <a:t>になるよう設計されている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094699FC-1473-E43D-C7C1-EFE20A901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4" y="616687"/>
                <a:ext cx="5071631" cy="53929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D1DAAAC-7442-1A9D-17B0-178BC1175EBD}"/>
                  </a:ext>
                </a:extLst>
              </p:cNvPr>
              <p:cNvSpPr txBox="1"/>
              <p:nvPr/>
            </p:nvSpPr>
            <p:spPr>
              <a:xfrm>
                <a:off x="6096000" y="780407"/>
                <a:ext cx="5925128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000" b="1" dirty="0"/>
                  <a:t>この論文での役割</a:t>
                </a:r>
              </a:p>
              <a:p>
                <a:pPr>
                  <a:buFont typeface="+mj-lt"/>
                  <a:buAutoNum type="arabicPeriod"/>
                </a:pPr>
                <a:r>
                  <a:rPr lang="ja-JP" altLang="en-US" sz="1000" b="1" dirty="0"/>
                  <a:t>抗力係数の補正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ja-JP" sz="1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ja-JP" altLang="en-US" sz="1000" i="1">
                              <a:latin typeface="Cambria Math" panose="02040503050406030204" pitchFamily="18" charset="0"/>
                            </a:rPr>
                            <m:t>𝐷𝑆</m:t>
                          </m:r>
                        </m:sub>
                      </m:sSub>
                      <m:d>
                        <m:d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000" i="0">
                              <a:latin typeface="Cambria Math" panose="02040503050406030204" pitchFamily="18" charset="0"/>
                            </a:rPr>
                            <m:t>1+2.632</m:t>
                          </m:r>
                          <m:r>
                            <m:rPr>
                              <m:nor/>
                            </m:rPr>
                            <a:rPr lang="ja-JP" altLang="en-US" sz="10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ja-JP" altLang="en-US" sz="10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ja-JP" altLang="en-US" sz="1000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変形が進むほど抗力が増大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ディスクに近づくほど抵抗が大きくなる </a:t>
                </a:r>
              </a:p>
              <a:p>
                <a:pPr>
                  <a:buFont typeface="+mj-lt"/>
                  <a:buAutoNum type="arabicPeriod" startAt="2"/>
                </a:pPr>
                <a:r>
                  <a:rPr lang="ja-JP" altLang="en-US" sz="1000" b="1" dirty="0"/>
                  <a:t>破砕モデル（</a:t>
                </a:r>
                <a:r>
                  <a:rPr lang="en-US" altLang="ja-JP" sz="1000" b="1" dirty="0"/>
                  <a:t>TAB</a:t>
                </a:r>
                <a:r>
                  <a:rPr lang="ja-JP" altLang="en-US" sz="1000" b="1" dirty="0"/>
                  <a:t>）への入力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dirty="0"/>
                  <a:t>Y </a:t>
                </a:r>
                <a:r>
                  <a:rPr lang="ja-JP" altLang="en-US" sz="1000" dirty="0"/>
                  <a:t>は </a:t>
                </a:r>
                <a:r>
                  <a:rPr lang="en-US" altLang="ja-JP" sz="1000" dirty="0"/>
                  <a:t>TAB </a:t>
                </a:r>
                <a:r>
                  <a:rPr lang="ja-JP" altLang="en-US" sz="1000" dirty="0"/>
                  <a:t>方程式の状態変数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Y &gt; 1 </a:t>
                </a:r>
                <a:r>
                  <a:rPr lang="ja-JP" altLang="en-US" sz="1000" b="1" dirty="0"/>
                  <a:t>が破砕条件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超短い一文で言うと</a:t>
                </a:r>
              </a:p>
              <a:p>
                <a:pPr>
                  <a:buNone/>
                </a:pPr>
                <a:r>
                  <a:rPr lang="en-US" altLang="ja-JP" sz="1000" b="1" dirty="0"/>
                  <a:t>Y =</a:t>
                </a:r>
                <a:r>
                  <a:rPr lang="ja-JP" altLang="en-US" sz="1000" b="1" dirty="0"/>
                  <a:t>「液滴が球からどれだけ潰れているか」を表す無次元変形度</a:t>
                </a:r>
                <a:endParaRPr lang="ja-JP" altLang="en-US" sz="10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D1DAAAC-7442-1A9D-17B0-178BC1175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80407"/>
                <a:ext cx="5925128" cy="1938992"/>
              </a:xfrm>
              <a:prstGeom prst="rect">
                <a:avLst/>
              </a:prstGeom>
              <a:blipFill>
                <a:blip r:embed="rId3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52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5623A-AECE-577B-60A5-E1EE9D5D1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臨界ウェーバー数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7877AD46-4C7B-98EC-85DD-CAB689061472}"/>
                  </a:ext>
                </a:extLst>
              </p:cNvPr>
              <p:cNvSpPr txBox="1"/>
              <p:nvPr/>
            </p:nvSpPr>
            <p:spPr>
              <a:xfrm>
                <a:off x="152401" y="636217"/>
                <a:ext cx="4023360" cy="5502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000" b="1" dirty="0">
                    <a:highlight>
                      <a:srgbClr val="FFFF00"/>
                    </a:highlight>
                  </a:rPr>
                  <a:t>臨界ウェーバー数（</a:t>
                </a:r>
                <a:r>
                  <a:rPr lang="en-US" altLang="ja-JP" sz="1000" b="1" dirty="0">
                    <a:highlight>
                      <a:srgbClr val="FFFF00"/>
                    </a:highlight>
                  </a:rPr>
                  <a:t>critical Weber number</a:t>
                </a:r>
                <a:r>
                  <a:rPr lang="ja-JP" altLang="en-US" sz="1000" b="1" dirty="0">
                    <a:highlight>
                      <a:srgbClr val="FFFF00"/>
                    </a:highlight>
                  </a:rPr>
                  <a:t>）</a:t>
                </a:r>
                <a:r>
                  <a:rPr lang="ja-JP" altLang="en-US" sz="1000" b="1" dirty="0"/>
                  <a:t>とは？</a:t>
                </a:r>
              </a:p>
              <a:p>
                <a:pPr>
                  <a:buNone/>
                </a:pPr>
                <a:r>
                  <a:rPr lang="ja-JP" altLang="en-US" sz="1000" b="1" dirty="0"/>
                  <a:t>「液滴が“壊れるか／壊れないか”の境界を表す無次元数」</a:t>
                </a:r>
                <a:br>
                  <a:rPr lang="ja-JP" altLang="en-US" sz="1000" dirty="0"/>
                </a:br>
                <a:r>
                  <a:rPr lang="ja-JP" altLang="en-US" sz="1000" dirty="0"/>
                  <a:t>それが </a:t>
                </a:r>
                <a:r>
                  <a:rPr lang="ja-JP" altLang="en-US" sz="1000" b="1" dirty="0"/>
                  <a:t>臨界ウェーバー数 </a:t>
                </a:r>
                <a14:m>
                  <m:oMath xmlns:m="http://schemas.openxmlformats.org/officeDocument/2006/math">
                    <m:r>
                      <a:rPr lang="ja-JP" altLang="en-US" sz="1000" i="1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1000" b="0" i="1">
                            <a:latin typeface="Cambria Math" panose="02040503050406030204" pitchFamily="18" charset="0"/>
                          </a:rPr>
                          <m:t>crit</m:t>
                        </m:r>
                      </m:sub>
                    </m:sSub>
                  </m:oMath>
                </a14:m>
                <a:r>
                  <a:rPr lang="ja-JP" altLang="en-US" sz="1000" dirty="0"/>
                  <a:t>。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まず </a:t>
                </a:r>
                <a:r>
                  <a:rPr lang="en-US" altLang="ja-JP" sz="1000" b="1" dirty="0">
                    <a:highlight>
                      <a:srgbClr val="FFFF00"/>
                    </a:highlight>
                  </a:rPr>
                  <a:t>Weber </a:t>
                </a:r>
                <a:r>
                  <a:rPr lang="ja-JP" altLang="en-US" sz="1000" b="1" dirty="0">
                    <a:highlight>
                      <a:srgbClr val="FFFF00"/>
                    </a:highlight>
                  </a:rPr>
                  <a:t>数（慣性力</a:t>
                </a:r>
                <a:r>
                  <a:rPr lang="en-US" altLang="ja-JP" sz="1000" b="1" dirty="0">
                    <a:highlight>
                      <a:srgbClr val="FFFF00"/>
                    </a:highlight>
                  </a:rPr>
                  <a:t>/</a:t>
                </a:r>
                <a:r>
                  <a:rPr lang="ja-JP" altLang="en-US" sz="1000" b="1" dirty="0">
                    <a:highlight>
                      <a:srgbClr val="FFFF00"/>
                    </a:highlight>
                  </a:rPr>
                  <a:t>表面張力）</a:t>
                </a:r>
                <a:r>
                  <a:rPr lang="ja-JP" altLang="en-US" sz="1000" b="1" dirty="0"/>
                  <a:t>そのもの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000" i="1">
                          <a:latin typeface="Cambria Math" panose="02040503050406030204" pitchFamily="18" charset="0"/>
                        </a:rPr>
                        <m:t>𝑊𝑒</m:t>
                      </m:r>
                      <m:r>
                        <a:rPr lang="en-US" altLang="ja-JP" sz="1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1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ja-JP" alt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sz="10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ja-JP" altLang="en-US" sz="1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ja-JP" altLang="en-US" sz="10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sSup>
                            <m:sSupPr>
                              <m:ctrlPr>
                                <a:rPr lang="ja-JP" altLang="en-US" sz="1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sz="10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ja-JP" sz="1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ja-JP" altLang="en-US" sz="10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ja-JP" altLang="en-US" sz="1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ja-JP" altLang="en-US" sz="10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ja-JP" altLang="en-US" sz="1000" b="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ja-JP" altLang="en-US" sz="1000" dirty="0"/>
                  <a:t>：気体密度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ja-JP" altLang="en-US" sz="1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ja-JP" altLang="en-US" sz="1000" dirty="0"/>
                  <a:t>：液滴と周囲流れの相対速度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ja-JP" altLang="en-US" sz="1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ja-JP" altLang="en-US" sz="1000" dirty="0"/>
                  <a:t>：液滴径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ja-JP" altLang="en-US" sz="1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ja-JP" altLang="en-US" sz="1000" dirty="0"/>
                  <a:t>：液体の表面張力 </a:t>
                </a:r>
              </a:p>
              <a:p>
                <a:pPr>
                  <a:buNone/>
                </a:pPr>
                <a:r>
                  <a:rPr lang="ja-JP" altLang="en-US" sz="1000" dirty="0"/>
                  <a:t>👉 </a:t>
                </a:r>
                <a:r>
                  <a:rPr lang="ja-JP" altLang="en-US" sz="1000" b="1" dirty="0"/>
                  <a:t>空気力（引き裂く力）／表面張力（元に戻す力）</a:t>
                </a:r>
                <a:r>
                  <a:rPr lang="ja-JP" altLang="en-US" sz="1000" dirty="0"/>
                  <a:t> の比。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en-US" altLang="ja-JP" sz="1000" dirty="0"/>
              </a:p>
              <a:p>
                <a:pPr>
                  <a:buNone/>
                </a:pPr>
                <a:endParaRPr lang="en-US" altLang="ja-JP" sz="1000" dirty="0"/>
              </a:p>
              <a:p>
                <a:pPr>
                  <a:buNone/>
                </a:pPr>
                <a:endParaRPr lang="en-US" altLang="ja-JP" sz="1000" dirty="0"/>
              </a:p>
              <a:p>
                <a:pPr>
                  <a:buNone/>
                </a:pPr>
                <a:endParaRPr lang="en-US" altLang="ja-JP" sz="1000" dirty="0"/>
              </a:p>
              <a:p>
                <a:pPr>
                  <a:buNone/>
                </a:pPr>
                <a:endParaRPr lang="en-US" altLang="ja-JP" sz="1000" dirty="0"/>
              </a:p>
              <a:p>
                <a:pPr>
                  <a:buNone/>
                </a:pPr>
                <a:endParaRPr lang="en-US" altLang="ja-JP" sz="1000" dirty="0"/>
              </a:p>
              <a:p>
                <a:pPr>
                  <a:buNone/>
                </a:pPr>
                <a:endParaRPr lang="en-US" altLang="ja-JP" sz="1000" dirty="0"/>
              </a:p>
              <a:p>
                <a:pPr>
                  <a:buNone/>
                </a:pPr>
                <a:endParaRPr lang="en-US" altLang="ja-JP" sz="1000" dirty="0"/>
              </a:p>
              <a:p>
                <a:pPr>
                  <a:buNone/>
                </a:pPr>
                <a:endParaRPr lang="en-US" altLang="ja-JP" sz="1000" dirty="0"/>
              </a:p>
              <a:p>
                <a:pPr>
                  <a:buNone/>
                </a:pP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>
                    <a:highlight>
                      <a:srgbClr val="FFFF00"/>
                    </a:highlight>
                  </a:rPr>
                  <a:t>臨界ウェーバー数の意味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We &lt; We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br>
                  <a:rPr lang="ja-JP" altLang="en-US" sz="1000" dirty="0"/>
                </a:br>
                <a:r>
                  <a:rPr lang="ja-JP" altLang="en-US" sz="1000" dirty="0"/>
                  <a:t>→ 表面張力が勝つ</a:t>
                </a:r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:r>
                  <a:rPr lang="ja-JP" altLang="en-US" sz="1000" dirty="0">
                    <a:highlight>
                      <a:srgbClr val="FFFF00"/>
                    </a:highlight>
                  </a:rPr>
                  <a:t>液滴は</a:t>
                </a:r>
                <a:r>
                  <a:rPr lang="ja-JP" altLang="en-US" sz="1000" b="1" dirty="0">
                    <a:highlight>
                      <a:srgbClr val="FFFF00"/>
                    </a:highlight>
                  </a:rPr>
                  <a:t>変形するが破砕しない</a:t>
                </a:r>
                <a:r>
                  <a:rPr lang="ja-JP" altLang="en-US" sz="1000" dirty="0">
                    <a:highlight>
                      <a:srgbClr val="FFFF00"/>
                    </a:highlight>
                  </a:rPr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We ≥ We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br>
                  <a:rPr lang="ja-JP" altLang="en-US" sz="1000" dirty="0"/>
                </a:br>
                <a:r>
                  <a:rPr lang="ja-JP" altLang="en-US" sz="1000" dirty="0"/>
                  <a:t>→ 空気力が勝つ</a:t>
                </a:r>
                <a:br>
                  <a:rPr lang="ja-JP" altLang="en-US" sz="1000" dirty="0"/>
                </a:br>
                <a:r>
                  <a:rPr lang="ja-JP" altLang="en-US" sz="1000" dirty="0"/>
                  <a:t>→ </a:t>
                </a:r>
                <a:r>
                  <a:rPr lang="ja-JP" altLang="en-US" sz="1000" dirty="0">
                    <a:highlight>
                      <a:srgbClr val="FFFF00"/>
                    </a:highlight>
                  </a:rPr>
                  <a:t>液滴は</a:t>
                </a:r>
                <a:r>
                  <a:rPr lang="ja-JP" altLang="en-US" sz="1000" b="1" dirty="0">
                    <a:highlight>
                      <a:srgbClr val="FFFF00"/>
                    </a:highlight>
                  </a:rPr>
                  <a:t>不安定になり破砕する</a:t>
                </a:r>
                <a:r>
                  <a:rPr lang="ja-JP" altLang="en-US" sz="1000" dirty="0">
                    <a:highlight>
                      <a:srgbClr val="FFFF00"/>
                    </a:highlight>
                  </a:rPr>
                  <a:t> </a:t>
                </a:r>
              </a:p>
              <a:p>
                <a:pPr>
                  <a:buNone/>
                </a:pPr>
                <a:r>
                  <a:rPr lang="ja-JP" altLang="en-US" sz="1000" dirty="0"/>
                  <a:t>つまり</a:t>
                </a:r>
              </a:p>
              <a:p>
                <a:pPr>
                  <a:buNone/>
                </a:pPr>
                <a:r>
                  <a:rPr lang="ja-JP" altLang="en-US" sz="1000" b="1" dirty="0"/>
                  <a:t>「ここを超えたら必ず壊れる」という限界値</a:t>
                </a:r>
                <a:endParaRPr lang="ja-JP" altLang="en-US" sz="1000" dirty="0"/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7877AD46-4C7B-98EC-85DD-CAB689061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1" y="636217"/>
                <a:ext cx="4023360" cy="5502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439F085-C6C0-B2D2-C974-F5D2547CF08E}"/>
                  </a:ext>
                </a:extLst>
              </p:cNvPr>
              <p:cNvSpPr txBox="1"/>
              <p:nvPr/>
            </p:nvSpPr>
            <p:spPr>
              <a:xfrm>
                <a:off x="4242955" y="607447"/>
                <a:ext cx="4023361" cy="5792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000" b="1" dirty="0"/>
                  <a:t>なぜ“臨界”が必要？</a:t>
                </a:r>
              </a:p>
              <a:p>
                <a:pPr>
                  <a:buNone/>
                </a:pPr>
                <a:r>
                  <a:rPr lang="ja-JP" altLang="en-US" sz="1000" dirty="0"/>
                  <a:t>同じ </a:t>
                </a:r>
                <a:r>
                  <a:rPr lang="en-US" altLang="ja-JP" sz="1000" dirty="0"/>
                  <a:t>We </a:t>
                </a:r>
                <a:r>
                  <a:rPr lang="ja-JP" altLang="en-US" sz="1000" dirty="0"/>
                  <a:t>でも変形して耐える液滴 </a:t>
                </a:r>
                <a:r>
                  <a:rPr lang="en-US" altLang="ja-JP" sz="1000" dirty="0"/>
                  <a:t>,</a:t>
                </a:r>
                <a:r>
                  <a:rPr lang="ja-JP" altLang="en-US" sz="1000" dirty="0"/>
                  <a:t>一気に破砕する液滴 がある。</a:t>
                </a:r>
                <a:br>
                  <a:rPr lang="ja-JP" altLang="en-US" sz="1000" dirty="0"/>
                </a:br>
                <a:r>
                  <a:rPr lang="ja-JP" altLang="en-US" sz="1000" dirty="0"/>
                  <a:t>だから実務では</a:t>
                </a:r>
                <a:r>
                  <a:rPr lang="ja-JP" altLang="en-US" sz="1000" b="1" dirty="0"/>
                  <a:t>経験的に決めた境界値</a:t>
                </a:r>
                <a:r>
                  <a:rPr lang="ja-JP" altLang="en-US" sz="1000" dirty="0"/>
                  <a:t>を使う。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この論文での扱い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臨界 </a:t>
                </a:r>
                <a:r>
                  <a:rPr lang="en-US" altLang="ja-JP" sz="1000" b="1" dirty="0"/>
                  <a:t>Weber </a:t>
                </a:r>
                <a:r>
                  <a:rPr lang="ja-JP" altLang="en-US" sz="1000" b="1" dirty="0"/>
                  <a:t>数：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000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ja-JP" altLang="en-US" sz="1000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000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ja-JP" sz="1000" b="0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crit</m:t>
                          </m:r>
                        </m:sub>
                      </m:sSub>
                      <m:r>
                        <a:rPr lang="en-US" altLang="ja-JP" sz="1000" b="0" i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ja-JP" altLang="en-US" sz="1000" b="0" dirty="0">
                  <a:highlight>
                    <a:srgbClr val="FFFF00"/>
                  </a:highlight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dirty="0"/>
                  <a:t>TAB </a:t>
                </a:r>
                <a:r>
                  <a:rPr lang="ja-JP" altLang="en-US" sz="1000" dirty="0"/>
                  <a:t>モデルでは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変形量 </a:t>
                </a:r>
                <a14:m>
                  <m:oMath xmlns:m="http://schemas.openxmlformats.org/officeDocument/2006/math">
                    <m:r>
                      <a:rPr lang="ja-JP" altLang="en-US" sz="1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1000" i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ja-JP" altLang="en-US" sz="1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かつ </a:t>
                </a:r>
                <a:r>
                  <a:rPr lang="en-US" altLang="ja-JP" sz="1000" b="1" dirty="0"/>
                  <a:t>We &gt; We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br>
                  <a:rPr lang="ja-JP" altLang="en-US" sz="1000" dirty="0"/>
                </a:br>
                <a:r>
                  <a:rPr lang="ja-JP" altLang="en-US" sz="1000" dirty="0"/>
                  <a:t>で破砕と判定。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en-US" altLang="ja-JP" sz="1000" b="1" dirty="0"/>
                  <a:t>TAB </a:t>
                </a:r>
                <a:r>
                  <a:rPr lang="ja-JP" altLang="en-US" sz="1000" b="1" dirty="0"/>
                  <a:t>モデルとの関係（重要）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dirty="0"/>
                  <a:t>TAB </a:t>
                </a:r>
                <a:r>
                  <a:rPr lang="ja-JP" altLang="en-US" sz="1000" dirty="0"/>
                  <a:t>は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「ばね</a:t>
                </a:r>
                <a:r>
                  <a:rPr lang="en-US" altLang="ja-JP" sz="1000" dirty="0"/>
                  <a:t>–</a:t>
                </a:r>
                <a:r>
                  <a:rPr lang="ja-JP" altLang="en-US" sz="1000" dirty="0"/>
                  <a:t>質点</a:t>
                </a:r>
                <a:r>
                  <a:rPr lang="en-US" altLang="ja-JP" sz="1000" dirty="0"/>
                  <a:t>–</a:t>
                </a:r>
                <a:r>
                  <a:rPr lang="ja-JP" altLang="en-US" sz="1000" dirty="0"/>
                  <a:t>ダンパ」モデルで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液滴の</a:t>
                </a:r>
                <a:r>
                  <a:rPr lang="ja-JP" altLang="en-US" sz="1000" b="1" dirty="0"/>
                  <a:t>時間発展的な変形</a:t>
                </a:r>
                <a:r>
                  <a:rPr lang="ja-JP" altLang="en-US" sz="1000" dirty="0"/>
                  <a:t>を解く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dirty="0">
                    <a:highlight>
                      <a:srgbClr val="FFFF00"/>
                    </a:highlight>
                  </a:rPr>
                  <a:t>We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r>
                          <a:rPr lang="ja-JP" altLang="en-US" sz="10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r>
                  <a:rPr lang="ja-JP" altLang="en-US" sz="1000" dirty="0">
                    <a:highlight>
                      <a:srgbClr val="FFFF00"/>
                    </a:highlight>
                  </a:rPr>
                  <a:t> 単独モデル：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瞬間的・保守的</a:t>
                </a:r>
                <a:r>
                  <a:rPr lang="ja-JP" altLang="en-US" sz="1000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>
                    <a:highlight>
                      <a:srgbClr val="FFFF00"/>
                    </a:highlight>
                  </a:rPr>
                  <a:t>最大液滴径を</a:t>
                </a:r>
                <a:r>
                  <a:rPr lang="ja-JP" altLang="en-US" sz="1000" b="1" dirty="0">
                    <a:highlight>
                      <a:srgbClr val="FFFF00"/>
                    </a:highlight>
                  </a:rPr>
                  <a:t>過小評価しがち</a:t>
                </a:r>
                <a:r>
                  <a:rPr lang="ja-JP" altLang="en-US" sz="1000" dirty="0">
                    <a:highlight>
                      <a:srgbClr val="FFFF00"/>
                    </a:highlight>
                  </a:rPr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この論文の結果：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TAB</a:t>
                </a:r>
                <a:r>
                  <a:rPr lang="ja-JP" altLang="en-US" sz="1000" b="1" dirty="0"/>
                  <a:t>基準のほうが実測に近い</a:t>
                </a:r>
                <a:r>
                  <a:rPr lang="ja-JP" altLang="en-US" sz="1000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ja-JP" sz="1000" dirty="0"/>
                  <a:t>We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r>
                  <a:rPr lang="ja-JP" altLang="en-US" sz="1000" dirty="0"/>
                  <a:t> 基準は安全側（小さめ）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>
                    <a:highlight>
                      <a:srgbClr val="FFFF00"/>
                    </a:highlight>
                  </a:rPr>
                  <a:t>なぜ臨界値を超えても“生き残る”液滴がある？</a:t>
                </a:r>
              </a:p>
              <a:p>
                <a:pPr>
                  <a:buNone/>
                </a:pPr>
                <a:r>
                  <a:rPr lang="ja-JP" altLang="en-US" sz="1000" dirty="0"/>
                  <a:t>ここがこの論文の新規性。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>
                    <a:highlight>
                      <a:srgbClr val="FFFF00"/>
                    </a:highlight>
                  </a:rPr>
                  <a:t>後縁</a:t>
                </a:r>
                <a:r>
                  <a:rPr lang="ja-JP" altLang="en-US" sz="1000" b="1" dirty="0">
                    <a:highlight>
                      <a:srgbClr val="FFFF00"/>
                    </a:highlight>
                  </a:rPr>
                  <a:t>ウェイク内では速度が低い</a:t>
                </a:r>
                <a:r>
                  <a:rPr lang="ja-JP" altLang="en-US" sz="1000" dirty="0">
                    <a:highlight>
                      <a:srgbClr val="FFFF00"/>
                    </a:highlight>
                  </a:rPr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実効相対速度が下がる→ </a:t>
                </a:r>
                <a:r>
                  <a:rPr lang="ja-JP" altLang="en-US" sz="1000" b="1" dirty="0"/>
                  <a:t>局所的 </a:t>
                </a:r>
                <a:r>
                  <a:rPr lang="en-US" altLang="ja-JP" sz="1000" b="1" dirty="0"/>
                  <a:t>We </a:t>
                </a:r>
                <a:r>
                  <a:rPr lang="ja-JP" altLang="en-US" sz="1000" b="1" dirty="0"/>
                  <a:t>が小さい</a:t>
                </a:r>
                <a:r>
                  <a:rPr lang="ja-JP" altLang="en-US" sz="1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その結果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主流なら壊れるサイズでも </a:t>
                </a:r>
                <a:r>
                  <a:rPr lang="ja-JP" altLang="en-US" sz="1000" b="1" dirty="0"/>
                  <a:t>ウェイク内では生存可能</a:t>
                </a:r>
                <a:r>
                  <a:rPr lang="ja-JP" altLang="en-US" sz="1000" dirty="0"/>
                  <a:t> </a:t>
                </a:r>
              </a:p>
              <a:p>
                <a:pPr>
                  <a:buNone/>
                </a:pPr>
                <a:br>
                  <a:rPr lang="ja-JP" altLang="en-US" sz="1000" dirty="0"/>
                </a:br>
                <a:endParaRPr lang="ja-JP" altLang="en-US" sz="1000" dirty="0"/>
              </a:p>
              <a:p>
                <a:pPr>
                  <a:buNone/>
                </a:pPr>
                <a:r>
                  <a:rPr lang="ja-JP" altLang="en-US" sz="1000" b="1" dirty="0"/>
                  <a:t>超短くまとめると</a:t>
                </a:r>
              </a:p>
              <a:p>
                <a:pPr>
                  <a:buNone/>
                </a:pPr>
                <a:r>
                  <a:rPr lang="ja-JP" altLang="en-US" sz="1000" b="1" dirty="0"/>
                  <a:t>臨界ウェーバー数とは「液滴破砕の境界条件」であり、この論文では </a:t>
                </a:r>
                <a:r>
                  <a:rPr lang="en-US" altLang="ja-JP" sz="1000" b="1" dirty="0"/>
                  <a:t>We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r>
                          <a:rPr lang="ja-JP" altLang="en-US" sz="1000" i="1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r>
                  <a:rPr lang="en-US" altLang="ja-JP" sz="1000" b="1" dirty="0"/>
                  <a:t>=13 </a:t>
                </a:r>
                <a:r>
                  <a:rPr lang="ja-JP" altLang="en-US" sz="1000" b="1" dirty="0"/>
                  <a:t>を基準に </a:t>
                </a:r>
                <a:r>
                  <a:rPr lang="en-US" altLang="ja-JP" sz="1000" b="1" dirty="0"/>
                  <a:t>TAB </a:t>
                </a:r>
                <a:r>
                  <a:rPr lang="ja-JP" altLang="en-US" sz="1000" b="1" dirty="0"/>
                  <a:t>モデルで最大液滴を評価している</a:t>
                </a:r>
                <a:endParaRPr lang="ja-JP" altLang="en-US" sz="10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439F085-C6C0-B2D2-C974-F5D2547CF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955" y="607447"/>
                <a:ext cx="4023361" cy="57920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2C43B1C-7EF8-2D2E-1CBB-D0568A8C7C8E}"/>
              </a:ext>
            </a:extLst>
          </p:cNvPr>
          <p:cNvGrpSpPr/>
          <p:nvPr/>
        </p:nvGrpSpPr>
        <p:grpSpPr>
          <a:xfrm>
            <a:off x="465601" y="2857351"/>
            <a:ext cx="2935947" cy="1279479"/>
            <a:chOff x="465601" y="2857351"/>
            <a:chExt cx="2935947" cy="127947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7428B8E3-554A-6ADD-6DA9-D40EE25B9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5601" y="2857351"/>
              <a:ext cx="2935947" cy="1279479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3376348A-4CCD-E41A-8FBF-CEDC1FA72FA6}"/>
                </a:ext>
              </a:extLst>
            </p:cNvPr>
            <p:cNvSpPr/>
            <p:nvPr/>
          </p:nvSpPr>
          <p:spPr>
            <a:xfrm>
              <a:off x="465601" y="3084945"/>
              <a:ext cx="2360726" cy="2401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F0ED156-EAAD-9A92-A22B-570950C94470}"/>
              </a:ext>
            </a:extLst>
          </p:cNvPr>
          <p:cNvCxnSpPr/>
          <p:nvPr/>
        </p:nvCxnSpPr>
        <p:spPr>
          <a:xfrm>
            <a:off x="1496291" y="1653309"/>
            <a:ext cx="149673" cy="14316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505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9DE45D-6D75-EC1C-6CE6-64732167D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1233589"/>
            <a:ext cx="11861800" cy="379942"/>
          </a:xfrm>
        </p:spPr>
        <p:txBody>
          <a:bodyPr>
            <a:noAutofit/>
          </a:bodyPr>
          <a:lstStyle/>
          <a:p>
            <a:pPr algn="ctr"/>
            <a:r>
              <a:rPr kumimoji="1" lang="ja-JP" altLang="en-US" sz="4000" dirty="0"/>
              <a:t>改造構想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C30607-1DD3-DD0E-7E8D-9BBD68B0550C}"/>
              </a:ext>
            </a:extLst>
          </p:cNvPr>
          <p:cNvSpPr txBox="1"/>
          <p:nvPr/>
        </p:nvSpPr>
        <p:spPr>
          <a:xfrm>
            <a:off x="1731523" y="2110902"/>
            <a:ext cx="90467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kumimoji="1" lang="ja-JP" altLang="en-US" dirty="0"/>
              <a:t>液滴微細化とは？　用語、スキーム等学習（</a:t>
            </a:r>
            <a:r>
              <a:rPr kumimoji="1" lang="en-US" altLang="ja-JP" dirty="0"/>
              <a:t>ANKI)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kumimoji="1" lang="ja-JP" altLang="en-US" dirty="0"/>
              <a:t>液滴微細化解析の標準手順と各手順の詳細</a:t>
            </a:r>
            <a:endParaRPr kumimoji="1" lang="en-US" altLang="ja-JP" dirty="0"/>
          </a:p>
          <a:p>
            <a:endParaRPr kumimoji="1" lang="en-US" altLang="ja-JP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/>
              <a:t>※</a:t>
            </a:r>
            <a:r>
              <a:rPr kumimoji="1" lang="ja-JP" altLang="en-US" dirty="0"/>
              <a:t>微細化シミュレーション１</a:t>
            </a:r>
            <a:r>
              <a:rPr kumimoji="1" lang="en-US" altLang="ja-JP" dirty="0"/>
              <a:t>D</a:t>
            </a:r>
            <a:r>
              <a:rPr kumimoji="1" lang="ja-JP" altLang="en-US" dirty="0"/>
              <a:t>→</a:t>
            </a:r>
            <a:r>
              <a:rPr kumimoji="1" lang="en-US" altLang="ja-JP" dirty="0"/>
              <a:t>Fluent</a:t>
            </a:r>
            <a:r>
              <a:rPr kumimoji="1" lang="ja-JP" altLang="en-US" dirty="0"/>
              <a:t>＋</a:t>
            </a:r>
            <a:r>
              <a:rPr kumimoji="1" lang="en-US" altLang="ja-JP" dirty="0"/>
              <a:t>UF</a:t>
            </a:r>
          </a:p>
        </p:txBody>
      </p:sp>
    </p:spTree>
    <p:extLst>
      <p:ext uri="{BB962C8B-B14F-4D97-AF65-F5344CB8AC3E}">
        <p14:creationId xmlns:p14="http://schemas.microsoft.com/office/powerpoint/2010/main" val="21507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6B315-A8AB-4763-0A52-69B5D997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用語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C19A62-87CA-1709-B521-A4AEA2384D5D}"/>
              </a:ext>
            </a:extLst>
          </p:cNvPr>
          <p:cNvSpPr txBox="1"/>
          <p:nvPr/>
        </p:nvSpPr>
        <p:spPr>
          <a:xfrm>
            <a:off x="152400" y="700391"/>
            <a:ext cx="5450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000" dirty="0"/>
              <a:t>自由噴流では、マッハディスク周りの現象が希薄化で“消える”目安として、マッハディスク径と平均自由行程に基づく </a:t>
            </a:r>
            <a:r>
              <a:rPr lang="en-US" altLang="ja-JP" sz="1000" dirty="0"/>
              <a:t>Knudsen </a:t>
            </a:r>
            <a:r>
              <a:rPr lang="ja-JP" altLang="en-US" sz="1000" dirty="0"/>
              <a:t>数的な指標が議論</a:t>
            </a:r>
            <a:endParaRPr lang="en-US" altLang="ja-JP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000" b="1" dirty="0"/>
              <a:t>単一成分（</a:t>
            </a:r>
            <a:r>
              <a:rPr lang="en-US" altLang="ja-JP" sz="1000" b="1" dirty="0"/>
              <a:t>H₂O</a:t>
            </a:r>
            <a:r>
              <a:rPr lang="ja-JP" altLang="en-US" sz="1000" b="1" dirty="0"/>
              <a:t>）の相変化</a:t>
            </a:r>
            <a:r>
              <a:rPr lang="ja-JP" altLang="en-US" sz="1000" dirty="0"/>
              <a:t>：周囲ガスが水蒸気そのものなので、一般的な「水滴が乾燥空気へ蒸発する」モデル（拡散支配）をそのまま使うと物理がずれる。</a:t>
            </a:r>
            <a:r>
              <a:rPr lang="ja-JP" altLang="en-US" sz="1000" b="1" dirty="0"/>
              <a:t>低圧では界面の分子運動論（</a:t>
            </a:r>
            <a:r>
              <a:rPr lang="en-US" altLang="ja-JP" sz="1000" b="1" dirty="0"/>
              <a:t>Hertz‑Knudsen‑Schrage</a:t>
            </a:r>
            <a:r>
              <a:rPr lang="ja-JP" altLang="en-US" sz="1000" b="1" dirty="0"/>
              <a:t>）に基づく蒸発・凝縮フラックスや、</a:t>
            </a:r>
            <a:r>
              <a:rPr lang="en-US" altLang="ja-JP" sz="1000" b="1" dirty="0"/>
              <a:t>Knudsen </a:t>
            </a:r>
            <a:r>
              <a:rPr lang="ja-JP" altLang="en-US" sz="1000" b="1" dirty="0"/>
              <a:t>層の熱抵抗が支配的になり得る</a:t>
            </a:r>
            <a:endParaRPr lang="en-US" altLang="ja-JP" sz="1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sz="1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00" b="1" dirty="0"/>
          </a:p>
        </p:txBody>
      </p:sp>
    </p:spTree>
    <p:extLst>
      <p:ext uri="{BB962C8B-B14F-4D97-AF65-F5344CB8AC3E}">
        <p14:creationId xmlns:p14="http://schemas.microsoft.com/office/powerpoint/2010/main" val="368948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A0B5D-8C36-4532-190A-6FC852882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フロー（</a:t>
            </a:r>
            <a:r>
              <a:rPr lang="en-US" altLang="ja-JP" dirty="0"/>
              <a:t>2026/4/26)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EE8898-2D49-A290-0FE7-AD27593ED654}"/>
              </a:ext>
            </a:extLst>
          </p:cNvPr>
          <p:cNvSpPr txBox="1"/>
          <p:nvPr/>
        </p:nvSpPr>
        <p:spPr>
          <a:xfrm>
            <a:off x="164281" y="495552"/>
            <a:ext cx="602251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YAML → config →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ジオメトリ＋軸格子 → 熱物性プロバイダ選択 → ガス解 → 液滴輸送（破砕評価含む）→ 結果組立・出力</a:t>
            </a:r>
            <a:b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</a:b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参照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architecture.md</a:t>
            </a:r>
            <a:r>
              <a:rPr lang="en-US" altLang="ja-JP" sz="800" b="0" i="0" u="none" strike="noStrike" dirty="0">
                <a:solidFill>
                  <a:srgbClr val="8C8C8C"/>
                </a:solidFill>
                <a:effectLst/>
                <a:latin typeface="Segoe WPC"/>
                <a:hlinkClick r:id="rId2"/>
              </a:rPr>
              <a:t>:7-17</a:t>
            </a:r>
            <a:endParaRPr lang="en-US" altLang="ja-JP" sz="800" b="0" i="0" u="none" strike="noStrike" dirty="0">
              <a:solidFill>
                <a:srgbClr val="8C8C8C"/>
              </a:solidFill>
              <a:effectLst/>
              <a:latin typeface="Segoe WPC"/>
            </a:endParaRPr>
          </a:p>
          <a:p>
            <a:pPr algn="l">
              <a:spcAft>
                <a:spcPts val="1200"/>
              </a:spcAft>
              <a:buNone/>
            </a:pPr>
            <a:endParaRPr lang="en-US" altLang="ja-JP" sz="800" dirty="0">
              <a:latin typeface="Segoe WPC"/>
            </a:endParaRPr>
          </a:p>
          <a:p>
            <a:pPr algn="l">
              <a:spcAft>
                <a:spcPts val="1200"/>
              </a:spcAft>
              <a:buNone/>
            </a:pPr>
            <a:r>
              <a:rPr lang="ja-JP" altLang="en-US" sz="800" b="1" dirty="0">
                <a:latin typeface="Segoe WPC"/>
              </a:rPr>
              <a:t>■</a:t>
            </a:r>
            <a:r>
              <a:rPr lang="ja-JP" altLang="en-US" sz="800" b="1" i="0" dirty="0">
                <a:effectLst/>
                <a:latin typeface="Segoe WPC"/>
              </a:rPr>
              <a:t>ガス相ソルバ（気層輸送）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関数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solve_quasi_1d_gas_flow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</a:t>
            </a:r>
            <a:r>
              <a:rPr lang="en-US" altLang="ja-JP" sz="800" b="0" i="0" dirty="0" err="1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ja-JP" sz="800" b="0" i="0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/.../solvers/gas/quasi_1d_solver.py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処理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ジオメトリから喉部検出 → ブランチ選択（全亜音速 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/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チョーク 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/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ラバル内衝撃など）→ 各格子点で面積比から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Mach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を解き，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assemble_gas_state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を呼んで圧力・温度・密度・速度・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Mach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を算出 → 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GasSolution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を返す。</a:t>
            </a:r>
            <a:b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</a:b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参照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quasi_1d_solver.py</a:t>
            </a:r>
            <a:endParaRPr lang="en-US" altLang="ja-JP" sz="800" b="0" i="0" u="none" strike="noStrike" dirty="0">
              <a:solidFill>
                <a:srgbClr val="BFBFBF"/>
              </a:solidFill>
              <a:effectLst/>
              <a:latin typeface="Segoe WP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ja-JP" sz="800" b="0" i="0" dirty="0">
              <a:effectLst/>
              <a:latin typeface="Segoe WPC"/>
            </a:endParaRPr>
          </a:p>
          <a:p>
            <a:pPr>
              <a:spcAft>
                <a:spcPts val="1200"/>
              </a:spcAft>
            </a:pPr>
            <a:r>
              <a:rPr lang="ja-JP" altLang="en-US" sz="800" b="1" dirty="0">
                <a:latin typeface="Segoe WPC"/>
              </a:rPr>
              <a:t>■</a:t>
            </a:r>
            <a:r>
              <a:rPr lang="ja-JP" altLang="en-US" sz="800" b="1" i="0" dirty="0">
                <a:effectLst/>
                <a:latin typeface="Segoe WPC"/>
              </a:rPr>
              <a:t>液滴輸送（代表粒子法）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エントリ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solve_droplet_transport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</a:t>
            </a:r>
            <a:r>
              <a:rPr lang="en-US" altLang="ja-JP" sz="800" b="0" i="0" dirty="0" err="1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ja-JP" sz="800" b="0" i="0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/.../solvers/droplet/transport_solver.py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初期化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initialize_droplet_state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で入口条件から初期 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DropletState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を作成（入口速度、直径、初期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We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等）。</a:t>
            </a:r>
            <a:b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</a:b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参照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src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/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supersonic_atomizer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/solvers/droplet/updates.py::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initialize_droplet_state</a:t>
            </a:r>
            <a:endParaRPr lang="en-US" altLang="ja-JP" sz="800" b="0" i="0" dirty="0">
              <a:solidFill>
                <a:srgbClr val="BFBFBF"/>
              </a:solidFill>
              <a:effectLst/>
              <a:latin typeface="Segoe WPC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各格子点の更新順（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1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セル進行ごと）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dx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を決定（隣接 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x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差）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スリップ速度 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u_slip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 = 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u_gas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 - 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u_droplet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update_droplet_state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）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drag_model.evaluate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(...)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で 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Reynolds, Cd,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加速度 を取得（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StandardSphereDragModel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）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dt = dx / max(|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u_gas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|, small); 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u_droplet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 += accel * dt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（運動方程式の単純積分）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更新されたスリップで再計算した 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We, Re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を状態に記録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破砕モデル（存在する場合）を呼ぶ（次節）</a:t>
            </a:r>
            <a:b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</a:b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参照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src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/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supersonic_atomizer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/solvers/droplet/updates.py::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update_droplet_state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と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transport_solver.py</a:t>
            </a:r>
            <a:endParaRPr lang="en-US" altLang="ja-JP" sz="800" b="0" i="0" u="none" strike="noStrike" dirty="0">
              <a:solidFill>
                <a:srgbClr val="BFBFBF"/>
              </a:solidFill>
              <a:effectLst/>
              <a:latin typeface="Segoe WPC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ja-JP" sz="800" b="0" i="0" dirty="0">
              <a:solidFill>
                <a:srgbClr val="BFBFBF"/>
              </a:solidFill>
              <a:effectLst/>
              <a:latin typeface="Segoe WPC"/>
            </a:endParaRPr>
          </a:p>
          <a:p>
            <a:pPr>
              <a:spcAft>
                <a:spcPts val="1200"/>
              </a:spcAft>
            </a:pPr>
            <a:r>
              <a:rPr lang="ja-JP" altLang="en-US" sz="800" b="1" dirty="0">
                <a:latin typeface="Segoe WPC"/>
              </a:rPr>
              <a:t>■</a:t>
            </a:r>
            <a:r>
              <a:rPr lang="ja-JP" altLang="en-US" sz="800" b="1" i="0" dirty="0">
                <a:effectLst/>
                <a:latin typeface="Segoe WPC"/>
              </a:rPr>
              <a:t>ドラッグ相互作用（力学）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実装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StandardSphereDragModel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</a:t>
            </a:r>
            <a:r>
              <a:rPr lang="en-US" altLang="ja-JP" sz="800" b="0" i="0" dirty="0" err="1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ja-JP" sz="800" b="0" i="0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/.../drag_models.py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主な式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Reynolds: Re = 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rho_g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 * |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u_slip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| * d / mu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Cd (Schiller–Naumann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型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): Cd = 24/Re * (1 + 0.15 * Re^0.687)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加速度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 a = 3 * Cd * 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rho_g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 * |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u_slip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| * 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u_slip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 / (4 * 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rho_d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 * d)</a:t>
            </a:r>
            <a:b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</a:b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参照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drag_models.py</a:t>
            </a:r>
            <a:endParaRPr lang="en-US" altLang="ja-JP" sz="800" b="0" i="0" u="none" strike="noStrike" dirty="0">
              <a:solidFill>
                <a:srgbClr val="BFBFBF"/>
              </a:solidFill>
              <a:effectLst/>
              <a:latin typeface="Segoe WPC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A4066B-14D5-0BBE-17C2-44BEA789F571}"/>
              </a:ext>
            </a:extLst>
          </p:cNvPr>
          <p:cNvSpPr txBox="1"/>
          <p:nvPr/>
        </p:nvSpPr>
        <p:spPr>
          <a:xfrm>
            <a:off x="6096000" y="495552"/>
            <a:ext cx="5919019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ja-JP" altLang="en-US" sz="800" b="1" dirty="0">
                <a:latin typeface="Segoe WPC"/>
              </a:rPr>
              <a:t>■一次破砕（</a:t>
            </a:r>
            <a:r>
              <a:rPr lang="en-US" altLang="ja-JP" sz="800" b="1" dirty="0">
                <a:latin typeface="Segoe WPC"/>
              </a:rPr>
              <a:t>MVP </a:t>
            </a:r>
            <a:r>
              <a:rPr lang="ja-JP" altLang="en-US" sz="800" b="1" dirty="0">
                <a:latin typeface="Segoe WPC"/>
              </a:rPr>
              <a:t>実装）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実装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: Weber </a:t>
            </a: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閾値モデル </a:t>
            </a:r>
            <a:r>
              <a:rPr lang="en-US" altLang="ja-JP" sz="800" dirty="0" err="1">
                <a:solidFill>
                  <a:srgbClr val="BFBFBF"/>
                </a:solidFill>
                <a:latin typeface="Segoe WPC"/>
                <a:hlinkClick r:id="rId2"/>
              </a:rPr>
              <a:t>CriticalWeberBreakupModel</a:t>
            </a: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（</a:t>
            </a:r>
            <a:r>
              <a:rPr lang="en-US" altLang="ja-JP" sz="800" dirty="0" err="1">
                <a:solidFill>
                  <a:srgbClr val="8C8C8C"/>
                </a:solidFill>
                <a:latin typeface="Consolas" panose="020B0609020204030204" pitchFamily="49" charset="0"/>
              </a:rPr>
              <a:t>src</a:t>
            </a:r>
            <a:r>
              <a:rPr lang="en-US" altLang="ja-JP" sz="800" dirty="0">
                <a:solidFill>
                  <a:srgbClr val="8C8C8C"/>
                </a:solidFill>
                <a:latin typeface="Consolas" panose="020B0609020204030204" pitchFamily="49" charset="0"/>
              </a:rPr>
              <a:t>/.../breakup/weber_critical.py</a:t>
            </a: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Weber </a:t>
            </a: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の式（コード実装）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: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We = </a:t>
            </a:r>
            <a:r>
              <a:rPr lang="en-US" altLang="ja-JP" sz="800" dirty="0" err="1">
                <a:solidFill>
                  <a:srgbClr val="BFBFBF"/>
                </a:solidFill>
                <a:latin typeface="Segoe WPC"/>
              </a:rPr>
              <a:t>rho_g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 * u_slip^2 * </a:t>
            </a:r>
            <a:r>
              <a:rPr lang="en-US" altLang="ja-JP" sz="800" dirty="0" err="1">
                <a:solidFill>
                  <a:srgbClr val="BFBFBF"/>
                </a:solidFill>
                <a:latin typeface="Segoe WPC"/>
              </a:rPr>
              <a:t>d_ref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 / sigma</a:t>
            </a:r>
            <a:br>
              <a:rPr lang="en-US" altLang="ja-JP" sz="800" dirty="0">
                <a:solidFill>
                  <a:srgbClr val="BFBFBF"/>
                </a:solidFill>
                <a:latin typeface="Segoe WPC"/>
              </a:rPr>
            </a:b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（実関数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: </a:t>
            </a:r>
            <a:r>
              <a:rPr lang="en-US" altLang="ja-JP" sz="800" dirty="0" err="1">
                <a:solidFill>
                  <a:srgbClr val="8C8C8C"/>
                </a:solidFill>
                <a:latin typeface="Consolas" panose="020B0609020204030204" pitchFamily="49" charset="0"/>
              </a:rPr>
              <a:t>evaluate_weber_number</a:t>
            </a: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判定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: If We &gt; </a:t>
            </a:r>
            <a:r>
              <a:rPr lang="en-US" altLang="ja-JP" sz="800" dirty="0" err="1">
                <a:solidFill>
                  <a:srgbClr val="BFBFBF"/>
                </a:solidFill>
                <a:latin typeface="Segoe WPC"/>
              </a:rPr>
              <a:t>We_crit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 → </a:t>
            </a: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平均径を </a:t>
            </a:r>
            <a:r>
              <a:rPr lang="en-US" altLang="ja-JP" sz="800" dirty="0" err="1">
                <a:solidFill>
                  <a:srgbClr val="BFBFBF"/>
                </a:solidFill>
                <a:latin typeface="Segoe WPC"/>
                <a:hlinkClick r:id="rId2"/>
              </a:rPr>
              <a:t>d_mean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  <a:hlinkClick r:id="rId2"/>
              </a:rPr>
              <a:t> *= </a:t>
            </a:r>
            <a:r>
              <a:rPr lang="en-US" altLang="ja-JP" sz="800" dirty="0" err="1">
                <a:solidFill>
                  <a:srgbClr val="BFBFBF"/>
                </a:solidFill>
                <a:latin typeface="Segoe WPC"/>
                <a:hlinkClick r:id="rId2"/>
              </a:rPr>
              <a:t>breakup_factor_mean</a:t>
            </a: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、最大径を </a:t>
            </a:r>
            <a:r>
              <a:rPr lang="en-US" altLang="ja-JP" sz="800" dirty="0" err="1">
                <a:solidFill>
                  <a:srgbClr val="8C8C8C"/>
                </a:solidFill>
                <a:latin typeface="Consolas" panose="020B0609020204030204" pitchFamily="49" charset="0"/>
              </a:rPr>
              <a:t>d_max</a:t>
            </a:r>
            <a:r>
              <a:rPr lang="en-US" altLang="ja-JP" sz="800" dirty="0">
                <a:solidFill>
                  <a:srgbClr val="8C8C8C"/>
                </a:solidFill>
                <a:latin typeface="Consolas" panose="020B0609020204030204" pitchFamily="49" charset="0"/>
              </a:rPr>
              <a:t> = max(</a:t>
            </a:r>
            <a:r>
              <a:rPr lang="en-US" altLang="ja-JP" sz="800" dirty="0" err="1">
                <a:solidFill>
                  <a:srgbClr val="8C8C8C"/>
                </a:solidFill>
                <a:latin typeface="Consolas" panose="020B0609020204030204" pitchFamily="49" charset="0"/>
              </a:rPr>
              <a:t>d_max</a:t>
            </a:r>
            <a:r>
              <a:rPr lang="en-US" altLang="ja-JP" sz="800" dirty="0">
                <a:solidFill>
                  <a:srgbClr val="8C8C8C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 dirty="0" err="1">
                <a:solidFill>
                  <a:srgbClr val="8C8C8C"/>
                </a:solidFill>
                <a:latin typeface="Consolas" panose="020B0609020204030204" pitchFamily="49" charset="0"/>
              </a:rPr>
              <a:t>breakup_factor_max</a:t>
            </a:r>
            <a:r>
              <a:rPr lang="en-US" altLang="ja-JP" sz="800" dirty="0">
                <a:solidFill>
                  <a:srgbClr val="8C8C8C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 dirty="0" err="1">
                <a:solidFill>
                  <a:srgbClr val="8C8C8C"/>
                </a:solidFill>
                <a:latin typeface="Consolas" panose="020B0609020204030204" pitchFamily="49" charset="0"/>
              </a:rPr>
              <a:t>d_mean</a:t>
            </a:r>
            <a:r>
              <a:rPr lang="en-US" altLang="ja-JP" sz="800" dirty="0">
                <a:solidFill>
                  <a:srgbClr val="8C8C8C"/>
                </a:solidFill>
                <a:latin typeface="Consolas" panose="020B0609020204030204" pitchFamily="49" charset="0"/>
              </a:rPr>
              <a:t>)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 </a:t>
            </a: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に更新、破砕フラグを立てる。</a:t>
            </a:r>
            <a:br>
              <a:rPr lang="ja-JP" altLang="en-US" sz="800" dirty="0">
                <a:solidFill>
                  <a:srgbClr val="BFBFBF"/>
                </a:solidFill>
                <a:latin typeface="Segoe WPC"/>
              </a:rPr>
            </a:br>
            <a:r>
              <a:rPr lang="ja-JP" altLang="en-US" sz="800" dirty="0">
                <a:solidFill>
                  <a:srgbClr val="BFBFBF"/>
                </a:solidFill>
                <a:latin typeface="Segoe WPC"/>
              </a:rPr>
              <a:t>参照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</a:rPr>
              <a:t>: </a:t>
            </a:r>
            <a:r>
              <a:rPr lang="en-US" altLang="ja-JP" sz="800" dirty="0">
                <a:solidFill>
                  <a:srgbClr val="BFBFBF"/>
                </a:solidFill>
                <a:latin typeface="Segoe WPC"/>
                <a:hlinkClick r:id="rId2"/>
              </a:rPr>
              <a:t>weber_critical.py</a:t>
            </a:r>
            <a:endParaRPr lang="en-US" altLang="ja-JP" sz="800" dirty="0">
              <a:solidFill>
                <a:srgbClr val="BFBFBF"/>
              </a:solidFill>
              <a:latin typeface="Segoe WPC"/>
            </a:endParaRPr>
          </a:p>
          <a:p>
            <a:pPr>
              <a:spcAft>
                <a:spcPts val="1200"/>
              </a:spcAft>
            </a:pPr>
            <a:endParaRPr lang="en-US" altLang="ja-JP" sz="800" b="1" dirty="0">
              <a:latin typeface="Segoe WPC"/>
            </a:endParaRPr>
          </a:p>
          <a:p>
            <a:pPr>
              <a:spcAft>
                <a:spcPts val="1200"/>
              </a:spcAft>
            </a:pPr>
            <a:r>
              <a:rPr lang="ja-JP" altLang="en-US" sz="800" b="1" dirty="0">
                <a:latin typeface="Segoe WPC"/>
              </a:rPr>
              <a:t>■</a:t>
            </a:r>
            <a:r>
              <a:rPr lang="ja-JP" altLang="en-US" sz="800" b="1" i="0" dirty="0">
                <a:effectLst/>
                <a:latin typeface="Segoe WPC"/>
              </a:rPr>
              <a:t>二次破砕 </a:t>
            </a:r>
            <a:r>
              <a:rPr lang="en-US" altLang="ja-JP" sz="800" b="1" i="0" dirty="0">
                <a:effectLst/>
                <a:latin typeface="Segoe WPC"/>
              </a:rPr>
              <a:t>/ </a:t>
            </a:r>
            <a:r>
              <a:rPr lang="ja-JP" altLang="en-US" sz="800" b="1" i="0" dirty="0">
                <a:effectLst/>
                <a:latin typeface="Segoe WPC"/>
              </a:rPr>
              <a:t>高度モデル（現状）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仕様書・草案では 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TAB / KH‑RT / </a:t>
            </a:r>
            <a:r>
              <a:rPr lang="en-US" altLang="ja-JP" sz="800" b="0" i="0" dirty="0" err="1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simple_tab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等が言及されているが、現行コードベースには実装が見当たりません（将来のプラグイン候補）。</a:t>
            </a:r>
            <a:b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</a:b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参照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spec_draft.md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（モデル候補記載）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,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architecture.md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（拡張方針）</a:t>
            </a:r>
          </a:p>
          <a:p>
            <a:pPr lvl="1">
              <a:spcAft>
                <a:spcPts val="1200"/>
              </a:spcAft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破砕と輸送の統合順序（実装上）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各ノードで「スリップ評価 → ドラッグ更新 → 液滴速度更新 → 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Weber/Re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評価 → 破砕モデル呼出 → 更新状態を次ステップへ渡す」流れになっています。</a:t>
            </a:r>
            <a:b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</a:b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参照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breakup-integration-sequence.md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と </a:t>
            </a:r>
            <a:r>
              <a:rPr lang="en-US" altLang="ja-JP" sz="800" b="0" i="0" dirty="0" err="1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ja-JP" sz="800" b="0" i="0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/.../transport_solver.py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/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updates.py</a:t>
            </a:r>
            <a:endParaRPr lang="en-US" altLang="ja-JP" sz="800" b="0" i="0" u="none" strike="noStrike" dirty="0">
              <a:solidFill>
                <a:srgbClr val="BFBFBF"/>
              </a:solidFill>
              <a:effectLst/>
              <a:latin typeface="Segoe WPC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ja-JP" sz="800" b="0" i="0" dirty="0">
              <a:solidFill>
                <a:srgbClr val="BFBFBF"/>
              </a:solidFill>
              <a:effectLst/>
              <a:latin typeface="Segoe WPC"/>
            </a:endParaRPr>
          </a:p>
          <a:p>
            <a:pPr>
              <a:spcAft>
                <a:spcPts val="1200"/>
              </a:spcAft>
            </a:pPr>
            <a:r>
              <a:rPr lang="ja-JP" altLang="en-US" sz="800" b="1" dirty="0">
                <a:latin typeface="Segoe WPC"/>
              </a:rPr>
              <a:t>■</a:t>
            </a:r>
            <a:r>
              <a:rPr lang="ja-JP" altLang="en-US" sz="800" b="1" i="0" dirty="0">
                <a:effectLst/>
                <a:latin typeface="Segoe WPC"/>
              </a:rPr>
              <a:t>出力・検証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全軸履歴（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x, gas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配列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, droplet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配列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, weber, </a:t>
            </a:r>
            <a:r>
              <a:rPr lang="en-US" altLang="ja-JP" sz="800" b="0" i="0" dirty="0" err="1">
                <a:solidFill>
                  <a:srgbClr val="BFBFBF"/>
                </a:solidFill>
                <a:effectLst/>
                <a:latin typeface="Segoe WPC"/>
              </a:rPr>
              <a:t>breakup_flags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など）を 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DropletSolution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/ </a:t>
            </a:r>
            <a:r>
              <a:rPr lang="en-US" altLang="ja-JP" sz="800" b="0" i="0" u="none" strike="noStrike" dirty="0" err="1">
                <a:solidFill>
                  <a:srgbClr val="BFBFBF"/>
                </a:solidFill>
                <a:effectLst/>
                <a:latin typeface="Segoe WPC"/>
                <a:hlinkClick r:id="rId2"/>
              </a:rPr>
              <a:t>GasSolution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 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にまとめ、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CSV/JSON/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図を作成。検証ルール（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breakup-trigger case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等）で差分チェック。</a:t>
            </a:r>
            <a:b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</a:b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参照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architecture.md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,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README.md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, </a:t>
            </a: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breakup-integration-sequence.md</a:t>
            </a:r>
            <a:endParaRPr lang="en-US" altLang="ja-JP" sz="800" b="0" i="0" u="none" strike="noStrike" dirty="0">
              <a:solidFill>
                <a:srgbClr val="BFBFBF"/>
              </a:solidFill>
              <a:effectLst/>
              <a:latin typeface="Segoe WP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ja-JP" sz="800" b="0" i="0" dirty="0">
              <a:solidFill>
                <a:srgbClr val="BFBFBF"/>
              </a:solidFill>
              <a:effectLst/>
              <a:latin typeface="Segoe WPC"/>
            </a:endParaRPr>
          </a:p>
          <a:p>
            <a:pPr>
              <a:spcAft>
                <a:spcPts val="1200"/>
              </a:spcAft>
            </a:pPr>
            <a:r>
              <a:rPr lang="ja-JP" altLang="en-US" sz="800" b="1" dirty="0">
                <a:latin typeface="Segoe WPC"/>
              </a:rPr>
              <a:t>■</a:t>
            </a:r>
            <a:r>
              <a:rPr lang="ja-JP" altLang="en-US" sz="800" b="1" i="0" dirty="0">
                <a:effectLst/>
                <a:latin typeface="Segoe WPC"/>
              </a:rPr>
              <a:t>まとめ（実務的なポイント）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「一次破砕（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Weber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閾値）＋代表粒子輸送＋標準球ドラッグ」は実装済み。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「二次破砕（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TAB/KH-RT 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等）」は仕様に挙がっているが未実装で、拡張ポイントとしてプラグイン可能な設計になっている。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詳細実装箇所は次のファイルを参照してください（すぐ開けます）</a:t>
            </a:r>
            <a:r>
              <a:rPr lang="en-US" altLang="ja-JP" sz="800" b="0" i="0" dirty="0">
                <a:solidFill>
                  <a:srgbClr val="BFBFBF"/>
                </a:solidFill>
                <a:effectLst/>
                <a:latin typeface="Segoe WPC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weber_critical.py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（一次破砕式・ロジック）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updates.py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（液滴の局所更新）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drag_models.py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（ドラッグ・式）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transport_solver.py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（全行程マーチング）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quasi_1d_solver.py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（気相ソルバ）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800" b="0" i="0" u="none" strike="noStrike" dirty="0">
                <a:solidFill>
                  <a:srgbClr val="BFBFBF"/>
                </a:solidFill>
                <a:effectLst/>
                <a:latin typeface="Segoe WPC"/>
                <a:hlinkClick r:id="rId2"/>
              </a:rPr>
              <a:t>breakup-integration-sequence.md</a:t>
            </a:r>
            <a:r>
              <a:rPr lang="ja-JP" altLang="en-US" sz="800" b="0" i="0" dirty="0">
                <a:solidFill>
                  <a:srgbClr val="BFBFBF"/>
                </a:solidFill>
                <a:effectLst/>
                <a:latin typeface="Segoe WPC"/>
              </a:rPr>
              <a:t>（ノード内順序の手順）</a:t>
            </a:r>
          </a:p>
        </p:txBody>
      </p:sp>
    </p:spTree>
    <p:extLst>
      <p:ext uri="{BB962C8B-B14F-4D97-AF65-F5344CB8AC3E}">
        <p14:creationId xmlns:p14="http://schemas.microsoft.com/office/powerpoint/2010/main" val="2580125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391448-28AA-3BBF-5644-F2E40CAF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液柱→液滴：準一次元解析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0CE36AA-35C3-5C9F-CB9A-92ABE3EB240C}"/>
              </a:ext>
            </a:extLst>
          </p:cNvPr>
          <p:cNvSpPr txBox="1"/>
          <p:nvPr/>
        </p:nvSpPr>
        <p:spPr>
          <a:xfrm>
            <a:off x="258618" y="309309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000" b="1" dirty="0"/>
              <a:t>■一次破砕と二次破砕の切り替え</a:t>
            </a:r>
            <a:endParaRPr lang="en-US" altLang="ja-JP" sz="1000" b="1" dirty="0"/>
          </a:p>
          <a:p>
            <a:pPr>
              <a:buNone/>
            </a:pPr>
            <a:endParaRPr lang="en-US" altLang="ja-JP" sz="1000" b="1" dirty="0"/>
          </a:p>
          <a:p>
            <a:pPr>
              <a:buNone/>
            </a:pPr>
            <a:r>
              <a:rPr lang="ja-JP" altLang="en-US" sz="1000" b="1" dirty="0"/>
              <a:t>液柱がまだ残っているかどうか</a:t>
            </a:r>
            <a:r>
              <a:rPr lang="ja-JP" altLang="en-US" sz="1000" dirty="0"/>
              <a:t>で切り替えるほうがよいです。</a:t>
            </a:r>
          </a:p>
          <a:p>
            <a:pPr>
              <a:buNone/>
            </a:pPr>
            <a:r>
              <a:rPr lang="ja-JP" altLang="en-US" sz="1000" dirty="0"/>
              <a:t>準一次元では直接形状を見られないので、実装上は</a:t>
            </a:r>
          </a:p>
          <a:p>
            <a:pPr lvl="1"/>
            <a:r>
              <a:rPr lang="en-US" altLang="ja-JP" sz="1000" dirty="0">
                <a:latin typeface="Courier New" panose="02070309020205020404" pitchFamily="49" charset="0"/>
              </a:rPr>
              <a:t>x &lt; </a:t>
            </a:r>
            <a:r>
              <a:rPr lang="en-US" altLang="ja-JP" sz="1000" dirty="0" err="1">
                <a:latin typeface="Courier New" panose="02070309020205020404" pitchFamily="49" charset="0"/>
              </a:rPr>
              <a:t>L_primary_breakup</a:t>
            </a:r>
            <a:r>
              <a:rPr lang="en-US" altLang="ja-JP" sz="1000" dirty="0">
                <a:latin typeface="Courier New" panose="02070309020205020404" pitchFamily="49" charset="0"/>
              </a:rPr>
              <a:t> → liquid jet / primary atomization</a:t>
            </a:r>
            <a:br>
              <a:rPr lang="en-US" altLang="ja-JP" sz="1000" dirty="0">
                <a:latin typeface="Courier New" panose="02070309020205020404" pitchFamily="49" charset="0"/>
              </a:rPr>
            </a:br>
            <a:r>
              <a:rPr lang="en-US" altLang="ja-JP" sz="1000" dirty="0">
                <a:latin typeface="Courier New" panose="02070309020205020404" pitchFamily="49" charset="0"/>
              </a:rPr>
              <a:t>x ≥ </a:t>
            </a:r>
            <a:r>
              <a:rPr lang="en-US" altLang="ja-JP" sz="1000" dirty="0" err="1">
                <a:latin typeface="Courier New" panose="02070309020205020404" pitchFamily="49" charset="0"/>
              </a:rPr>
              <a:t>L_primary_breakup</a:t>
            </a:r>
            <a:r>
              <a:rPr lang="en-US" altLang="ja-JP" sz="1000" dirty="0">
                <a:latin typeface="Courier New" panose="02070309020205020404" pitchFamily="49" charset="0"/>
              </a:rPr>
              <a:t> → droplets / secondary atomization</a:t>
            </a:r>
          </a:p>
          <a:p>
            <a:pPr>
              <a:buNone/>
            </a:pPr>
            <a:r>
              <a:rPr lang="ja-JP" altLang="en-US" sz="1000" dirty="0"/>
              <a:t>とします。</a:t>
            </a:r>
          </a:p>
          <a:p>
            <a:pPr>
              <a:buNone/>
            </a:pPr>
            <a:r>
              <a:rPr lang="ja-JP" altLang="en-US" sz="1000" dirty="0"/>
              <a:t>ただし、この </a:t>
            </a:r>
            <a:r>
              <a:rPr lang="en-US" altLang="ja-JP" sz="1000" b="1" dirty="0" err="1"/>
              <a:t>L_primary_breakup</a:t>
            </a:r>
            <a:r>
              <a:rPr lang="ja-JP" altLang="en-US" sz="1000" dirty="0"/>
              <a:t> は固定値ではなく、できれば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ja-JP" altLang="en-US" sz="1000" dirty="0"/>
              <a:t>液体ジェット径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ja-JP" altLang="en-US" sz="1000" dirty="0"/>
              <a:t>気液相対速度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ja-JP" altLang="en-US" sz="1000" dirty="0"/>
              <a:t>気体密度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ja-JP" altLang="en-US" sz="1000" dirty="0"/>
              <a:t>液体密度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ja-JP" altLang="en-US" sz="1000" dirty="0"/>
              <a:t>表面張力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ja-JP" altLang="en-US" sz="1000" dirty="0"/>
              <a:t>液体粘性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ja-JP" sz="1000" dirty="0"/>
              <a:t>Weber</a:t>
            </a:r>
            <a:r>
              <a:rPr lang="ja-JP" altLang="en-US" sz="1000" dirty="0"/>
              <a:t>数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ja-JP" sz="1000" dirty="0"/>
              <a:t>Ohnesorge</a:t>
            </a:r>
            <a:r>
              <a:rPr lang="ja-JP" altLang="en-US" sz="1000" dirty="0"/>
              <a:t>数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ja-JP" altLang="en-US" sz="1000" dirty="0"/>
              <a:t>運動量流束比 </a:t>
            </a:r>
          </a:p>
          <a:p>
            <a:pPr>
              <a:buNone/>
            </a:pPr>
            <a:r>
              <a:rPr lang="ja-JP" altLang="en-US" sz="1000" dirty="0"/>
              <a:t>などから決めます。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C4C3CB-16C2-39CC-0C61-50FDF7BBC939}"/>
              </a:ext>
            </a:extLst>
          </p:cNvPr>
          <p:cNvSpPr txBox="1"/>
          <p:nvPr/>
        </p:nvSpPr>
        <p:spPr>
          <a:xfrm>
            <a:off x="258618" y="655996"/>
            <a:ext cx="408247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ja-JP" altLang="en-US" sz="1000" dirty="0"/>
              <a:t>円管から水が連続的に出る</a:t>
            </a:r>
            <a:br>
              <a:rPr lang="ja-JP" altLang="en-US" sz="1000" dirty="0"/>
            </a:br>
            <a:r>
              <a:rPr lang="ja-JP" altLang="en-US" sz="1000" dirty="0"/>
              <a:t>→ </a:t>
            </a:r>
            <a:r>
              <a:rPr lang="en-US" altLang="ja-JP" sz="1000" dirty="0"/>
              <a:t>liquid jet / liquid column</a:t>
            </a:r>
          </a:p>
          <a:p>
            <a:pPr marL="228600" indent="-228600">
              <a:buAutoNum type="arabicPeriod"/>
            </a:pPr>
            <a:r>
              <a:rPr lang="en-US" altLang="ja-JP" sz="1000" dirty="0"/>
              <a:t> </a:t>
            </a:r>
            <a:r>
              <a:rPr lang="ja-JP" altLang="en-US" sz="1000" dirty="0"/>
              <a:t>気流とのせん断で表面不安定が成長する</a:t>
            </a:r>
            <a:endParaRPr lang="en-US" altLang="ja-JP" sz="1000" dirty="0"/>
          </a:p>
          <a:p>
            <a:r>
              <a:rPr lang="ja-JP" altLang="en-US" sz="1000" dirty="0"/>
              <a:t>　（表面波立ち、リガメント（紐）化、液滴化）</a:t>
            </a:r>
            <a:br>
              <a:rPr lang="ja-JP" altLang="en-US" sz="1000" dirty="0"/>
            </a:br>
            <a:r>
              <a:rPr lang="ja-JP" altLang="en-US" sz="1000" dirty="0"/>
              <a:t>→ </a:t>
            </a:r>
            <a:r>
              <a:rPr lang="en-US" altLang="ja-JP" sz="1000" dirty="0"/>
              <a:t>primary atomization</a:t>
            </a:r>
            <a:r>
              <a:rPr lang="ja-JP" altLang="en-US" sz="1000" dirty="0"/>
              <a:t>（一次破砕）</a:t>
            </a:r>
            <a:endParaRPr lang="en-US" altLang="ja-JP" sz="1000" dirty="0"/>
          </a:p>
          <a:p>
            <a:endParaRPr lang="en-US" altLang="ja-JP" sz="1000" dirty="0"/>
          </a:p>
          <a:p>
            <a:r>
              <a:rPr lang="ja-JP" altLang="en-US" sz="1000" dirty="0"/>
              <a:t>　</a:t>
            </a:r>
            <a:r>
              <a:rPr lang="en-US" altLang="ja-JP" sz="1000" dirty="0"/>
              <a:t>※</a:t>
            </a:r>
            <a:r>
              <a:rPr lang="ja-JP" altLang="en-US" sz="1000" dirty="0"/>
              <a:t>液柱そのものを詳細に解くのではなく、</a:t>
            </a:r>
            <a:br>
              <a:rPr lang="ja-JP" altLang="en-US" sz="1000" dirty="0"/>
            </a:br>
            <a:r>
              <a:rPr lang="ja-JP" altLang="en-US" sz="1000" dirty="0"/>
              <a:t>液柱がいつ液滴に変わるかをモデル化</a:t>
            </a:r>
            <a:br>
              <a:rPr lang="en-US" altLang="ja-JP" sz="1000" dirty="0"/>
            </a:br>
            <a:br>
              <a:rPr lang="en-US" altLang="ja-JP" sz="1000" dirty="0"/>
            </a:br>
            <a:r>
              <a:rPr lang="en-US" altLang="ja-JP" sz="1000" dirty="0"/>
              <a:t>3. </a:t>
            </a:r>
            <a:r>
              <a:rPr lang="ja-JP" altLang="en-US" sz="1000" dirty="0"/>
              <a:t>液滴径分布が生成される</a:t>
            </a:r>
            <a:br>
              <a:rPr lang="ja-JP" altLang="en-US" sz="1000" dirty="0"/>
            </a:br>
            <a:r>
              <a:rPr lang="ja-JP" altLang="en-US" sz="1000" dirty="0"/>
              <a:t>→ </a:t>
            </a:r>
            <a:r>
              <a:rPr lang="en-US" altLang="ja-JP" sz="1000" dirty="0"/>
              <a:t>initial PSD / SMD</a:t>
            </a:r>
            <a:br>
              <a:rPr lang="en-US" altLang="ja-JP" sz="1000" dirty="0"/>
            </a:br>
            <a:br>
              <a:rPr lang="en-US" altLang="ja-JP" sz="1000" dirty="0"/>
            </a:br>
            <a:r>
              <a:rPr lang="en-US" altLang="ja-JP" sz="1000" dirty="0"/>
              <a:t>4. </a:t>
            </a:r>
            <a:r>
              <a:rPr lang="ja-JP" altLang="en-US" sz="1000" dirty="0"/>
              <a:t>その液滴がさらに壊れる（二次破砕）</a:t>
            </a:r>
            <a:br>
              <a:rPr lang="ja-JP" altLang="en-US" sz="1000" dirty="0"/>
            </a:br>
            <a:r>
              <a:rPr lang="ja-JP" altLang="en-US" sz="1000" dirty="0"/>
              <a:t>→ </a:t>
            </a:r>
            <a:r>
              <a:rPr lang="en-US" altLang="ja-JP" sz="1000" dirty="0"/>
              <a:t>secondary atomization, TAB / KHRT </a:t>
            </a:r>
            <a:r>
              <a:rPr lang="ja-JP" altLang="en-US" sz="1000" dirty="0"/>
              <a:t>など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1BBF0-4C8F-7891-72CD-328AD354F502}"/>
              </a:ext>
            </a:extLst>
          </p:cNvPr>
          <p:cNvSpPr txBox="1"/>
          <p:nvPr/>
        </p:nvSpPr>
        <p:spPr>
          <a:xfrm>
            <a:off x="3472872" y="875145"/>
            <a:ext cx="3112655" cy="11695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000" b="1" dirty="0">
                <a:solidFill>
                  <a:srgbClr val="FF0000"/>
                </a:solidFill>
              </a:rPr>
              <a:t>primary atomization </a:t>
            </a:r>
            <a:r>
              <a:rPr lang="ja-JP" altLang="en-US" sz="1000" b="1" dirty="0">
                <a:solidFill>
                  <a:srgbClr val="FF0000"/>
                </a:solidFill>
              </a:rPr>
              <a:t>の詳細過程 は、普通の </a:t>
            </a:r>
            <a:r>
              <a:rPr lang="en-US" altLang="ja-JP" sz="1000" b="1" dirty="0" err="1">
                <a:solidFill>
                  <a:srgbClr val="FF0000"/>
                </a:solidFill>
              </a:rPr>
              <a:t>Lagrangian</a:t>
            </a:r>
            <a:r>
              <a:rPr lang="en-US" altLang="ja-JP" sz="1000" b="1" dirty="0">
                <a:solidFill>
                  <a:srgbClr val="FF0000"/>
                </a:solidFill>
              </a:rPr>
              <a:t> parcel model </a:t>
            </a:r>
            <a:r>
              <a:rPr lang="ja-JP" altLang="en-US" sz="1000" b="1" dirty="0">
                <a:solidFill>
                  <a:srgbClr val="FF0000"/>
                </a:solidFill>
              </a:rPr>
              <a:t>では直接解けません。</a:t>
            </a:r>
            <a:endParaRPr lang="en-US" altLang="ja-JP" sz="1000" b="1" dirty="0">
              <a:solidFill>
                <a:srgbClr val="FF0000"/>
              </a:solidFill>
            </a:endParaRPr>
          </a:p>
          <a:p>
            <a:endParaRPr lang="en-US" altLang="ja-JP" sz="1000" b="1" dirty="0">
              <a:solidFill>
                <a:srgbClr val="FF0000"/>
              </a:solidFill>
            </a:endParaRPr>
          </a:p>
          <a:p>
            <a:r>
              <a:rPr lang="ja-JP" altLang="en-US" sz="1000" b="1" dirty="0">
                <a:solidFill>
                  <a:srgbClr val="FF0000"/>
                </a:solidFill>
              </a:rPr>
              <a:t>　　　　　　　　　　↓</a:t>
            </a:r>
            <a:endParaRPr lang="en-US" altLang="ja-JP" sz="1000" b="1" dirty="0">
              <a:solidFill>
                <a:srgbClr val="FF0000"/>
              </a:solidFill>
            </a:endParaRPr>
          </a:p>
          <a:p>
            <a:r>
              <a:rPr lang="ja-JP" altLang="en-US" sz="1000" dirty="0"/>
              <a:t>液柱から液滴になる瞬間は </a:t>
            </a:r>
            <a:r>
              <a:rPr lang="en-US" altLang="ja-JP" sz="1000" dirty="0" err="1"/>
              <a:t>Lagrangian</a:t>
            </a:r>
            <a:r>
              <a:rPr lang="en-US" altLang="ja-JP" sz="1000" dirty="0"/>
              <a:t> </a:t>
            </a:r>
            <a:r>
              <a:rPr lang="ja-JP" altLang="en-US" sz="1000" dirty="0"/>
              <a:t>で直接解くのではなく、</a:t>
            </a:r>
            <a:r>
              <a:rPr lang="ja-JP" altLang="en-US" sz="1000" b="1" dirty="0">
                <a:solidFill>
                  <a:srgbClr val="FF0000"/>
                </a:solidFill>
              </a:rPr>
              <a:t>相関式で液滴を生成</a:t>
            </a:r>
            <a:r>
              <a:rPr lang="ja-JP" altLang="en-US" sz="1000" dirty="0"/>
              <a:t>し、その後を </a:t>
            </a:r>
            <a:r>
              <a:rPr lang="en-US" altLang="ja-JP" sz="1000" dirty="0" err="1"/>
              <a:t>Lagrangian</a:t>
            </a:r>
            <a:r>
              <a:rPr lang="en-US" altLang="ja-JP" sz="1000" dirty="0"/>
              <a:t> </a:t>
            </a:r>
            <a:r>
              <a:rPr lang="ja-JP" altLang="en-US" sz="1000" dirty="0"/>
              <a:t>で解く</a:t>
            </a:r>
            <a:endParaRPr lang="ja-JP" altLang="en-US" sz="1000" b="1" dirty="0">
              <a:solidFill>
                <a:srgbClr val="FF000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6B29914-A4FA-1E05-AEA5-07F6760A43E8}"/>
              </a:ext>
            </a:extLst>
          </p:cNvPr>
          <p:cNvSpPr/>
          <p:nvPr/>
        </p:nvSpPr>
        <p:spPr>
          <a:xfrm>
            <a:off x="152400" y="960582"/>
            <a:ext cx="3052618" cy="1496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E488BCA-52C7-4550-3EDD-89FBCBD622AD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205018" y="1459921"/>
            <a:ext cx="267854" cy="248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DB592A0-A16A-287A-B630-961E85CD4B08}"/>
              </a:ext>
            </a:extLst>
          </p:cNvPr>
          <p:cNvSpPr txBox="1"/>
          <p:nvPr/>
        </p:nvSpPr>
        <p:spPr>
          <a:xfrm>
            <a:off x="6918035" y="1009986"/>
            <a:ext cx="452581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/>
              <a:t>1. </a:t>
            </a:r>
            <a:r>
              <a:rPr lang="ja-JP" altLang="en-US" sz="1000" dirty="0"/>
              <a:t>液柱は「連続液体ジェット」として</a:t>
            </a:r>
            <a:r>
              <a:rPr lang="en-US" altLang="ja-JP" sz="1000" dirty="0"/>
              <a:t>1D</a:t>
            </a:r>
            <a:r>
              <a:rPr lang="ja-JP" altLang="en-US" sz="1000" dirty="0"/>
              <a:t>で追跡する</a:t>
            </a:r>
            <a:br>
              <a:rPr lang="ja-JP" altLang="en-US" sz="1000" dirty="0"/>
            </a:br>
            <a:r>
              <a:rPr lang="en-US" altLang="ja-JP" sz="1000" dirty="0"/>
              <a:t>2. Weber</a:t>
            </a:r>
            <a:r>
              <a:rPr lang="ja-JP" altLang="en-US" sz="1000" dirty="0"/>
              <a:t>数、</a:t>
            </a:r>
            <a:r>
              <a:rPr lang="en-US" altLang="ja-JP" sz="1000" dirty="0"/>
              <a:t>Ohnesorge</a:t>
            </a:r>
            <a:r>
              <a:rPr lang="ja-JP" altLang="en-US" sz="1000" dirty="0"/>
              <a:t>数、運動量比などから一次破砕長さを推定する</a:t>
            </a:r>
            <a:br>
              <a:rPr lang="ja-JP" altLang="en-US" sz="1000" dirty="0"/>
            </a:br>
            <a:r>
              <a:rPr lang="en-US" altLang="ja-JP" sz="1000" dirty="0"/>
              <a:t>3. </a:t>
            </a:r>
            <a:r>
              <a:rPr lang="ja-JP" altLang="en-US" sz="1000" dirty="0"/>
              <a:t>破砕位置で液滴 </a:t>
            </a:r>
            <a:r>
              <a:rPr lang="en-US" altLang="ja-JP" sz="1000" dirty="0"/>
              <a:t>parcel </a:t>
            </a:r>
            <a:r>
              <a:rPr lang="ja-JP" altLang="en-US" sz="1000" dirty="0"/>
              <a:t>を発生させる</a:t>
            </a:r>
            <a:br>
              <a:rPr lang="ja-JP" altLang="en-US" sz="1000" dirty="0"/>
            </a:br>
            <a:r>
              <a:rPr lang="en-US" altLang="ja-JP" sz="1000" dirty="0"/>
              <a:t>4. </a:t>
            </a:r>
            <a:r>
              <a:rPr lang="ja-JP" altLang="en-US" sz="1000" dirty="0"/>
              <a:t>その後は </a:t>
            </a:r>
            <a:r>
              <a:rPr lang="en-US" altLang="ja-JP" sz="1000" dirty="0" err="1"/>
              <a:t>Lagrangian</a:t>
            </a:r>
            <a:r>
              <a:rPr lang="en-US" altLang="ja-JP" sz="1000" dirty="0"/>
              <a:t> </a:t>
            </a:r>
            <a:r>
              <a:rPr lang="ja-JP" altLang="en-US" sz="1000" dirty="0"/>
              <a:t>で液滴を追跡する</a:t>
            </a:r>
            <a:br>
              <a:rPr lang="ja-JP" altLang="en-US" sz="1000" dirty="0"/>
            </a:br>
            <a:r>
              <a:rPr lang="en-US" altLang="ja-JP" sz="1000" dirty="0"/>
              <a:t>5. </a:t>
            </a:r>
            <a:r>
              <a:rPr lang="ja-JP" altLang="en-US" sz="1000" dirty="0"/>
              <a:t>必要なら </a:t>
            </a:r>
            <a:r>
              <a:rPr lang="en-US" altLang="ja-JP" sz="1000" dirty="0"/>
              <a:t>TAB/KHRT </a:t>
            </a:r>
            <a:r>
              <a:rPr lang="ja-JP" altLang="en-US" sz="1000" dirty="0"/>
              <a:t>で二次破砕させる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6A865070-B35D-325B-E020-AFEB15463EAD}"/>
              </a:ext>
            </a:extLst>
          </p:cNvPr>
          <p:cNvSpPr/>
          <p:nvPr/>
        </p:nvSpPr>
        <p:spPr>
          <a:xfrm>
            <a:off x="6493164" y="1293091"/>
            <a:ext cx="360217" cy="2955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FDED6CB-A5BE-B867-1153-CBB59371AE6C}"/>
              </a:ext>
            </a:extLst>
          </p:cNvPr>
          <p:cNvSpPr txBox="1"/>
          <p:nvPr/>
        </p:nvSpPr>
        <p:spPr>
          <a:xfrm>
            <a:off x="5297054" y="2208399"/>
            <a:ext cx="38053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「液柱 → 液滴」破砕モデル</a:t>
            </a:r>
          </a:p>
        </p:txBody>
      </p:sp>
      <p:graphicFrame>
        <p:nvGraphicFramePr>
          <p:cNvPr id="31" name="表 30">
            <a:extLst>
              <a:ext uri="{FF2B5EF4-FFF2-40B4-BE49-F238E27FC236}">
                <a16:creationId xmlns:a16="http://schemas.microsoft.com/office/drawing/2014/main" id="{E87C3B35-A38C-5BFF-12B4-F5DB11DF3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455761"/>
              </p:ext>
            </p:extLst>
          </p:nvPr>
        </p:nvGraphicFramePr>
        <p:xfrm>
          <a:off x="5357091" y="2518497"/>
          <a:ext cx="6576291" cy="1920240"/>
        </p:xfrm>
        <a:graphic>
          <a:graphicData uri="http://schemas.openxmlformats.org/drawingml/2006/table">
            <a:tbl>
              <a:tblPr/>
              <a:tblGrid>
                <a:gridCol w="2192097">
                  <a:extLst>
                    <a:ext uri="{9D8B030D-6E8A-4147-A177-3AD203B41FA5}">
                      <a16:colId xmlns:a16="http://schemas.microsoft.com/office/drawing/2014/main" val="338818069"/>
                    </a:ext>
                  </a:extLst>
                </a:gridCol>
                <a:gridCol w="2192097">
                  <a:extLst>
                    <a:ext uri="{9D8B030D-6E8A-4147-A177-3AD203B41FA5}">
                      <a16:colId xmlns:a16="http://schemas.microsoft.com/office/drawing/2014/main" val="1558437518"/>
                    </a:ext>
                  </a:extLst>
                </a:gridCol>
                <a:gridCol w="2192097">
                  <a:extLst>
                    <a:ext uri="{9D8B030D-6E8A-4147-A177-3AD203B41FA5}">
                      <a16:colId xmlns:a16="http://schemas.microsoft.com/office/drawing/2014/main" val="2440140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/>
                        <a:t>種類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何を予測するか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準一次元での使い方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840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breakup length correlation</a:t>
                      </a:r>
                      <a:endParaRPr 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液柱がどこで壊れるか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x = L_breakup</a:t>
                      </a:r>
                      <a:r>
                        <a:rPr lang="en-US" sz="1000"/>
                        <a:t> </a:t>
                      </a:r>
                      <a:r>
                        <a:rPr lang="ja-JP" altLang="en-US" sz="1000"/>
                        <a:t>で液滴を生成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409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liquid core length model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連続液柱の残存長さ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/>
                        <a:t>液柱領域と液滴領域の切替に使う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686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KH instability model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/>
                        <a:t>表面波の成長から破砕を予測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初期液滴径・破砕時間の推定に使う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290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KH-RT model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Kelvin–Helmholtz / Rayleigh–Taylor </a:t>
                      </a:r>
                      <a:r>
                        <a:rPr lang="ja-JP" altLang="en-US" sz="1000"/>
                        <a:t>不安定で破砕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ディーゼル噴霧系でよく使われる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344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airblast / coaxial jet correlation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/>
                        <a:t>高速気流中の液体ジェット破砕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 dirty="0"/>
                        <a:t>あなたの「主流中に水を軸方向注入」に近い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972273"/>
                  </a:ext>
                </a:extLst>
              </a:tr>
            </a:tbl>
          </a:graphicData>
        </a:graphic>
      </p:graphicFrame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FECD8F2-122B-8C38-D811-6FEE23A9C097}"/>
              </a:ext>
            </a:extLst>
          </p:cNvPr>
          <p:cNvSpPr txBox="1"/>
          <p:nvPr/>
        </p:nvSpPr>
        <p:spPr>
          <a:xfrm>
            <a:off x="5297054" y="4385755"/>
            <a:ext cx="6414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文献的にも、液体ジェットの一次破砕では </a:t>
            </a:r>
            <a:r>
              <a:rPr lang="en-US" altLang="ja-JP" sz="1000" b="1" dirty="0"/>
              <a:t>Weber</a:t>
            </a:r>
            <a:r>
              <a:rPr lang="ja-JP" altLang="en-US" sz="1000" b="1" dirty="0"/>
              <a:t>数、</a:t>
            </a:r>
            <a:r>
              <a:rPr lang="en-US" altLang="ja-JP" sz="1000" b="1" dirty="0"/>
              <a:t>Reynolds</a:t>
            </a:r>
            <a:r>
              <a:rPr lang="ja-JP" altLang="en-US" sz="1000" b="1" dirty="0"/>
              <a:t>数、気液運動量流束比、密度比、粘性、表面張力</a:t>
            </a:r>
            <a:r>
              <a:rPr lang="ja-JP" altLang="en-US" sz="1000" dirty="0"/>
              <a:t> などを使って </a:t>
            </a:r>
            <a:r>
              <a:rPr lang="en-US" altLang="ja-JP" sz="1000" dirty="0"/>
              <a:t>breakup length </a:t>
            </a:r>
            <a:r>
              <a:rPr lang="ja-JP" altLang="en-US" sz="1000" dirty="0"/>
              <a:t>や </a:t>
            </a:r>
            <a:r>
              <a:rPr lang="en-US" altLang="ja-JP" sz="1000" dirty="0"/>
              <a:t>liquid core length </a:t>
            </a:r>
            <a:r>
              <a:rPr lang="ja-JP" altLang="en-US" sz="1000" dirty="0"/>
              <a:t>を整理する研究が多いです。</a:t>
            </a:r>
            <a:r>
              <a:rPr lang="en-US" altLang="ja-JP" sz="1000" dirty="0"/>
              <a:t>coaxial air flow </a:t>
            </a:r>
            <a:r>
              <a:rPr lang="ja-JP" altLang="en-US" sz="1000" dirty="0"/>
              <a:t>中の </a:t>
            </a:r>
            <a:r>
              <a:rPr lang="en-US" altLang="ja-JP" sz="1000" dirty="0"/>
              <a:t>primary breakup </a:t>
            </a:r>
            <a:r>
              <a:rPr lang="ja-JP" altLang="en-US" sz="1000" dirty="0"/>
              <a:t>では </a:t>
            </a:r>
            <a:r>
              <a:rPr lang="en-US" altLang="ja-JP" sz="1000" dirty="0"/>
              <a:t>liquid core length </a:t>
            </a:r>
            <a:r>
              <a:rPr lang="ja-JP" altLang="en-US" sz="1000" dirty="0"/>
              <a:t>を評価する研究もあり、</a:t>
            </a:r>
            <a:r>
              <a:rPr lang="en-US" altLang="ja-JP" sz="1000" dirty="0"/>
              <a:t>KH</a:t>
            </a:r>
            <a:r>
              <a:rPr lang="ja-JP" altLang="en-US" sz="1000" dirty="0"/>
              <a:t>不安定や</a:t>
            </a:r>
            <a:r>
              <a:rPr lang="en-US" altLang="ja-JP" sz="1000" dirty="0"/>
              <a:t>RT</a:t>
            </a:r>
            <a:r>
              <a:rPr lang="ja-JP" altLang="en-US" sz="1000" dirty="0"/>
              <a:t>不安定に基づくモデルも公開されています。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B1C03EB-8305-54B1-3F24-1F8A3D2F421F}"/>
              </a:ext>
            </a:extLst>
          </p:cNvPr>
          <p:cNvSpPr txBox="1"/>
          <p:nvPr/>
        </p:nvSpPr>
        <p:spPr>
          <a:xfrm>
            <a:off x="5333998" y="5170585"/>
            <a:ext cx="63777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ja-JP" sz="800" dirty="0">
                <a:latin typeface="Courier New" panose="02070309020205020404" pitchFamily="49" charset="0"/>
              </a:rPr>
              <a:t>1. </a:t>
            </a:r>
            <a:r>
              <a:rPr lang="ja-JP" altLang="en-US" sz="800" dirty="0">
                <a:latin typeface="Courier New" panose="02070309020205020404" pitchFamily="49" charset="0"/>
              </a:rPr>
              <a:t>液柱直径 </a:t>
            </a:r>
            <a:r>
              <a:rPr lang="en-US" altLang="ja-JP" sz="800" dirty="0" err="1">
                <a:latin typeface="Courier New" panose="02070309020205020404" pitchFamily="49" charset="0"/>
              </a:rPr>
              <a:t>d_j</a:t>
            </a:r>
            <a:r>
              <a:rPr lang="en-US" altLang="ja-JP" sz="800" dirty="0">
                <a:latin typeface="Courier New" panose="02070309020205020404" pitchFamily="49" charset="0"/>
              </a:rPr>
              <a:t> </a:t>
            </a:r>
            <a:r>
              <a:rPr lang="ja-JP" altLang="en-US" sz="800" dirty="0">
                <a:latin typeface="Courier New" panose="02070309020205020404" pitchFamily="49" charset="0"/>
              </a:rPr>
              <a:t>を定義する</a:t>
            </a:r>
            <a:br>
              <a:rPr lang="ja-JP" altLang="en-US" sz="800" dirty="0">
                <a:latin typeface="Courier New" panose="02070309020205020404" pitchFamily="49" charset="0"/>
              </a:rPr>
            </a:br>
            <a:r>
              <a:rPr lang="en-US" altLang="ja-JP" sz="800" dirty="0">
                <a:latin typeface="Courier New" panose="02070309020205020404" pitchFamily="49" charset="0"/>
              </a:rPr>
              <a:t>2. </a:t>
            </a:r>
            <a:r>
              <a:rPr lang="ja-JP" altLang="en-US" sz="800" dirty="0">
                <a:latin typeface="Courier New" panose="02070309020205020404" pitchFamily="49" charset="0"/>
              </a:rPr>
              <a:t>各 </a:t>
            </a:r>
            <a:r>
              <a:rPr lang="en-US" altLang="ja-JP" sz="800" dirty="0">
                <a:latin typeface="Courier New" panose="02070309020205020404" pitchFamily="49" charset="0"/>
              </a:rPr>
              <a:t>x </a:t>
            </a:r>
            <a:r>
              <a:rPr lang="ja-JP" altLang="en-US" sz="800" dirty="0">
                <a:latin typeface="Courier New" panose="02070309020205020404" pitchFamily="49" charset="0"/>
              </a:rPr>
              <a:t>で </a:t>
            </a:r>
            <a:r>
              <a:rPr lang="el-GR" altLang="ja-JP" sz="800" dirty="0">
                <a:latin typeface="Courier New" panose="02070309020205020404" pitchFamily="49" charset="0"/>
              </a:rPr>
              <a:t>ρ_</a:t>
            </a:r>
            <a:r>
              <a:rPr lang="en-US" altLang="ja-JP" sz="800" dirty="0">
                <a:latin typeface="Courier New" panose="02070309020205020404" pitchFamily="49" charset="0"/>
              </a:rPr>
              <a:t>g, U_g, </a:t>
            </a:r>
            <a:r>
              <a:rPr lang="en-US" altLang="ja-JP" sz="800" dirty="0" err="1">
                <a:latin typeface="Courier New" panose="02070309020205020404" pitchFamily="49" charset="0"/>
              </a:rPr>
              <a:t>U_l</a:t>
            </a:r>
            <a:r>
              <a:rPr lang="en-US" altLang="ja-JP" sz="800" dirty="0">
                <a:latin typeface="Courier New" panose="02070309020205020404" pitchFamily="49" charset="0"/>
              </a:rPr>
              <a:t>, </a:t>
            </a:r>
            <a:r>
              <a:rPr lang="el-GR" altLang="ja-JP" sz="800" dirty="0">
                <a:latin typeface="Courier New" panose="02070309020205020404" pitchFamily="49" charset="0"/>
              </a:rPr>
              <a:t>σ, μ_</a:t>
            </a:r>
            <a:r>
              <a:rPr lang="en-US" altLang="ja-JP" sz="800" dirty="0">
                <a:latin typeface="Courier New" panose="02070309020205020404" pitchFamily="49" charset="0"/>
              </a:rPr>
              <a:t>l </a:t>
            </a:r>
            <a:r>
              <a:rPr lang="ja-JP" altLang="en-US" sz="800" dirty="0">
                <a:latin typeface="Courier New" panose="02070309020205020404" pitchFamily="49" charset="0"/>
              </a:rPr>
              <a:t>を計算する</a:t>
            </a:r>
            <a:br>
              <a:rPr lang="ja-JP" altLang="en-US" sz="800" dirty="0">
                <a:latin typeface="Courier New" panose="02070309020205020404" pitchFamily="49" charset="0"/>
              </a:rPr>
            </a:br>
            <a:r>
              <a:rPr lang="en-US" altLang="ja-JP" sz="800" dirty="0">
                <a:latin typeface="Courier New" panose="02070309020205020404" pitchFamily="49" charset="0"/>
              </a:rPr>
              <a:t>3. </a:t>
            </a:r>
            <a:r>
              <a:rPr lang="ja-JP" altLang="en-US" sz="800" dirty="0">
                <a:latin typeface="Courier New" panose="02070309020205020404" pitchFamily="49" charset="0"/>
              </a:rPr>
              <a:t>局所 </a:t>
            </a:r>
            <a:r>
              <a:rPr lang="en-US" altLang="ja-JP" sz="800" dirty="0">
                <a:latin typeface="Courier New" panose="02070309020205020404" pitchFamily="49" charset="0"/>
              </a:rPr>
              <a:t>Weber </a:t>
            </a:r>
            <a:r>
              <a:rPr lang="ja-JP" altLang="en-US" sz="800" dirty="0">
                <a:latin typeface="Courier New" panose="02070309020205020404" pitchFamily="49" charset="0"/>
              </a:rPr>
              <a:t>数や運動量流束比を計算する</a:t>
            </a:r>
            <a:br>
              <a:rPr lang="ja-JP" altLang="en-US" sz="800" dirty="0">
                <a:latin typeface="Courier New" panose="02070309020205020404" pitchFamily="49" charset="0"/>
              </a:rPr>
            </a:br>
            <a:r>
              <a:rPr lang="en-US" altLang="ja-JP" sz="800" dirty="0">
                <a:latin typeface="Courier New" panose="02070309020205020404" pitchFamily="49" charset="0"/>
              </a:rPr>
              <a:t>4. </a:t>
            </a:r>
            <a:r>
              <a:rPr lang="ja-JP" altLang="en-US" sz="800" dirty="0">
                <a:latin typeface="Courier New" panose="02070309020205020404" pitchFamily="49" charset="0"/>
              </a:rPr>
              <a:t>公開された </a:t>
            </a:r>
            <a:r>
              <a:rPr lang="en-US" altLang="ja-JP" sz="800" dirty="0">
                <a:latin typeface="Courier New" panose="02070309020205020404" pitchFamily="49" charset="0"/>
              </a:rPr>
              <a:t>breakup length / liquid core length correlation </a:t>
            </a:r>
            <a:r>
              <a:rPr lang="ja-JP" altLang="en-US" sz="800" dirty="0">
                <a:latin typeface="Courier New" panose="02070309020205020404" pitchFamily="49" charset="0"/>
              </a:rPr>
              <a:t>で </a:t>
            </a:r>
            <a:r>
              <a:rPr lang="en-US" altLang="ja-JP" sz="800" dirty="0" err="1">
                <a:latin typeface="Courier New" panose="02070309020205020404" pitchFamily="49" charset="0"/>
              </a:rPr>
              <a:t>L_breakup</a:t>
            </a:r>
            <a:r>
              <a:rPr lang="en-US" altLang="ja-JP" sz="800" dirty="0">
                <a:latin typeface="Courier New" panose="02070309020205020404" pitchFamily="49" charset="0"/>
              </a:rPr>
              <a:t> </a:t>
            </a:r>
            <a:r>
              <a:rPr lang="ja-JP" altLang="en-US" sz="800" dirty="0">
                <a:latin typeface="Courier New" panose="02070309020205020404" pitchFamily="49" charset="0"/>
              </a:rPr>
              <a:t>を推定する</a:t>
            </a:r>
            <a:br>
              <a:rPr lang="ja-JP" altLang="en-US" sz="800" dirty="0">
                <a:latin typeface="Courier New" panose="02070309020205020404" pitchFamily="49" charset="0"/>
              </a:rPr>
            </a:br>
            <a:r>
              <a:rPr lang="en-US" altLang="ja-JP" sz="800" dirty="0">
                <a:latin typeface="Courier New" panose="02070309020205020404" pitchFamily="49" charset="0"/>
              </a:rPr>
              <a:t>5. x &gt;= </a:t>
            </a:r>
            <a:r>
              <a:rPr lang="en-US" altLang="ja-JP" sz="800" dirty="0" err="1">
                <a:latin typeface="Courier New" panose="02070309020205020404" pitchFamily="49" charset="0"/>
              </a:rPr>
              <a:t>L_breakup</a:t>
            </a:r>
            <a:r>
              <a:rPr lang="en-US" altLang="ja-JP" sz="800" dirty="0">
                <a:latin typeface="Courier New" panose="02070309020205020404" pitchFamily="49" charset="0"/>
              </a:rPr>
              <a:t> </a:t>
            </a:r>
            <a:r>
              <a:rPr lang="ja-JP" altLang="en-US" sz="800" dirty="0">
                <a:latin typeface="Courier New" panose="02070309020205020404" pitchFamily="49" charset="0"/>
              </a:rPr>
              <a:t>で液滴 </a:t>
            </a:r>
            <a:r>
              <a:rPr lang="en-US" altLang="ja-JP" sz="800" dirty="0">
                <a:latin typeface="Courier New" panose="02070309020205020404" pitchFamily="49" charset="0"/>
              </a:rPr>
              <a:t>parcel </a:t>
            </a:r>
            <a:r>
              <a:rPr lang="ja-JP" altLang="en-US" sz="800" dirty="0">
                <a:latin typeface="Courier New" panose="02070309020205020404" pitchFamily="49" charset="0"/>
              </a:rPr>
              <a:t>を生成する</a:t>
            </a:r>
            <a:br>
              <a:rPr lang="ja-JP" altLang="en-US" sz="800" dirty="0">
                <a:latin typeface="Courier New" panose="02070309020205020404" pitchFamily="49" charset="0"/>
              </a:rPr>
            </a:br>
            <a:r>
              <a:rPr lang="en-US" altLang="ja-JP" sz="800" dirty="0">
                <a:latin typeface="Courier New" panose="02070309020205020404" pitchFamily="49" charset="0"/>
              </a:rPr>
              <a:t>6. </a:t>
            </a:r>
            <a:r>
              <a:rPr lang="ja-JP" altLang="en-US" sz="800" dirty="0">
                <a:latin typeface="Courier New" panose="02070309020205020404" pitchFamily="49" charset="0"/>
              </a:rPr>
              <a:t>その後 </a:t>
            </a:r>
            <a:r>
              <a:rPr lang="en-US" altLang="ja-JP" sz="800" dirty="0">
                <a:latin typeface="Courier New" panose="02070309020205020404" pitchFamily="49" charset="0"/>
              </a:rPr>
              <a:t>TAB / KHRT </a:t>
            </a:r>
            <a:r>
              <a:rPr lang="ja-JP" altLang="en-US" sz="800" dirty="0">
                <a:latin typeface="Courier New" panose="02070309020205020404" pitchFamily="49" charset="0"/>
              </a:rPr>
              <a:t>などで二次破砕を計算する</a:t>
            </a:r>
          </a:p>
          <a:p>
            <a:pPr>
              <a:buNone/>
            </a:pPr>
            <a:r>
              <a:rPr lang="ja-JP" altLang="en-US" sz="800" dirty="0"/>
              <a:t>式の形は、例えば一般にこういう形になります。</a:t>
            </a:r>
          </a:p>
          <a:p>
            <a:pPr rtl="0">
              <a:buNone/>
            </a:pPr>
            <a:r>
              <a:rPr lang="en-US" altLang="ja-JP" sz="800" dirty="0" err="1">
                <a:latin typeface="Courier New" panose="02070309020205020404" pitchFamily="49" charset="0"/>
              </a:rPr>
              <a:t>L_breakup</a:t>
            </a:r>
            <a:r>
              <a:rPr lang="en-US" altLang="ja-JP" sz="800" dirty="0">
                <a:latin typeface="Courier New" panose="02070309020205020404" pitchFamily="49" charset="0"/>
              </a:rPr>
              <a:t> / </a:t>
            </a:r>
            <a:r>
              <a:rPr lang="en-US" altLang="ja-JP" sz="800" dirty="0" err="1">
                <a:latin typeface="Courier New" panose="02070309020205020404" pitchFamily="49" charset="0"/>
              </a:rPr>
              <a:t>d_j</a:t>
            </a:r>
            <a:r>
              <a:rPr lang="en-US" altLang="ja-JP" sz="800" dirty="0">
                <a:latin typeface="Courier New" panose="02070309020205020404" pitchFamily="49" charset="0"/>
              </a:rPr>
              <a:t> = f(</a:t>
            </a:r>
            <a:r>
              <a:rPr lang="en-US" altLang="ja-JP" sz="800" dirty="0" err="1">
                <a:latin typeface="Courier New" panose="02070309020205020404" pitchFamily="49" charset="0"/>
              </a:rPr>
              <a:t>We_g</a:t>
            </a:r>
            <a:r>
              <a:rPr lang="en-US" altLang="ja-JP" sz="800" dirty="0">
                <a:latin typeface="Courier New" panose="02070309020205020404" pitchFamily="49" charset="0"/>
              </a:rPr>
              <a:t>, </a:t>
            </a:r>
            <a:r>
              <a:rPr lang="en-US" altLang="ja-JP" sz="800" dirty="0" err="1">
                <a:latin typeface="Courier New" panose="02070309020205020404" pitchFamily="49" charset="0"/>
              </a:rPr>
              <a:t>Re_l</a:t>
            </a:r>
            <a:r>
              <a:rPr lang="en-US" altLang="ja-JP" sz="800" dirty="0">
                <a:latin typeface="Courier New" panose="02070309020205020404" pitchFamily="49" charset="0"/>
              </a:rPr>
              <a:t>, Oh, </a:t>
            </a:r>
            <a:r>
              <a:rPr lang="el-GR" altLang="ja-JP" sz="800" dirty="0">
                <a:latin typeface="Courier New" panose="02070309020205020404" pitchFamily="49" charset="0"/>
              </a:rPr>
              <a:t>ρ_</a:t>
            </a:r>
            <a:r>
              <a:rPr lang="en-US" altLang="ja-JP" sz="800" dirty="0">
                <a:latin typeface="Courier New" panose="02070309020205020404" pitchFamily="49" charset="0"/>
              </a:rPr>
              <a:t>g/</a:t>
            </a:r>
            <a:r>
              <a:rPr lang="el-GR" altLang="ja-JP" sz="800" dirty="0">
                <a:latin typeface="Courier New" panose="02070309020205020404" pitchFamily="49" charset="0"/>
              </a:rPr>
              <a:t>ρ_</a:t>
            </a:r>
            <a:r>
              <a:rPr lang="en-US" altLang="ja-JP" sz="800" dirty="0">
                <a:latin typeface="Courier New" panose="02070309020205020404" pitchFamily="49" charset="0"/>
              </a:rPr>
              <a:t>l, q)</a:t>
            </a:r>
          </a:p>
          <a:p>
            <a:pPr>
              <a:buNone/>
            </a:pPr>
            <a:r>
              <a:rPr lang="ja-JP" altLang="en-US" sz="800" dirty="0"/>
              <a:t>ここで、</a:t>
            </a:r>
          </a:p>
          <a:p>
            <a:pPr rtl="0">
              <a:buNone/>
            </a:pPr>
            <a:r>
              <a:rPr lang="en-US" altLang="ja-JP" sz="800" dirty="0" err="1">
                <a:latin typeface="Courier New" panose="02070309020205020404" pitchFamily="49" charset="0"/>
              </a:rPr>
              <a:t>We_g</a:t>
            </a:r>
            <a:r>
              <a:rPr lang="en-US" altLang="ja-JP" sz="800" dirty="0">
                <a:latin typeface="Courier New" panose="02070309020205020404" pitchFamily="49" charset="0"/>
              </a:rPr>
              <a:t> = </a:t>
            </a:r>
            <a:r>
              <a:rPr lang="el-GR" altLang="ja-JP" sz="800" dirty="0">
                <a:latin typeface="Courier New" panose="02070309020205020404" pitchFamily="49" charset="0"/>
              </a:rPr>
              <a:t>ρ_</a:t>
            </a:r>
            <a:r>
              <a:rPr lang="en-US" altLang="ja-JP" sz="800" dirty="0">
                <a:latin typeface="Courier New" panose="02070309020205020404" pitchFamily="49" charset="0"/>
              </a:rPr>
              <a:t>g U_rel^2 </a:t>
            </a:r>
            <a:r>
              <a:rPr lang="en-US" altLang="ja-JP" sz="800" dirty="0" err="1">
                <a:latin typeface="Courier New" panose="02070309020205020404" pitchFamily="49" charset="0"/>
              </a:rPr>
              <a:t>d_j</a:t>
            </a:r>
            <a:r>
              <a:rPr lang="en-US" altLang="ja-JP" sz="800" dirty="0">
                <a:latin typeface="Courier New" panose="02070309020205020404" pitchFamily="49" charset="0"/>
              </a:rPr>
              <a:t> / </a:t>
            </a:r>
            <a:r>
              <a:rPr lang="el-GR" altLang="ja-JP" sz="800" dirty="0">
                <a:latin typeface="Courier New" panose="02070309020205020404" pitchFamily="49" charset="0"/>
              </a:rPr>
              <a:t>σ</a:t>
            </a:r>
            <a:br>
              <a:rPr lang="el-GR" altLang="ja-JP" sz="800" dirty="0">
                <a:latin typeface="Courier New" panose="02070309020205020404" pitchFamily="49" charset="0"/>
              </a:rPr>
            </a:br>
            <a:r>
              <a:rPr lang="en-US" altLang="ja-JP" sz="800" dirty="0">
                <a:latin typeface="Courier New" panose="02070309020205020404" pitchFamily="49" charset="0"/>
              </a:rPr>
              <a:t>Oh = </a:t>
            </a:r>
            <a:r>
              <a:rPr lang="el-GR" altLang="ja-JP" sz="800" dirty="0">
                <a:latin typeface="Courier New" panose="02070309020205020404" pitchFamily="49" charset="0"/>
              </a:rPr>
              <a:t>μ_</a:t>
            </a:r>
            <a:r>
              <a:rPr lang="en-US" altLang="ja-JP" sz="800" dirty="0">
                <a:latin typeface="Courier New" panose="02070309020205020404" pitchFamily="49" charset="0"/>
              </a:rPr>
              <a:t>l / sqrt(</a:t>
            </a:r>
            <a:r>
              <a:rPr lang="el-GR" altLang="ja-JP" sz="800" dirty="0">
                <a:latin typeface="Courier New" panose="02070309020205020404" pitchFamily="49" charset="0"/>
              </a:rPr>
              <a:t>ρ_</a:t>
            </a:r>
            <a:r>
              <a:rPr lang="en-US" altLang="ja-JP" sz="800" dirty="0">
                <a:latin typeface="Courier New" panose="02070309020205020404" pitchFamily="49" charset="0"/>
              </a:rPr>
              <a:t>l </a:t>
            </a:r>
            <a:r>
              <a:rPr lang="el-GR" altLang="ja-JP" sz="800" dirty="0">
                <a:latin typeface="Courier New" panose="02070309020205020404" pitchFamily="49" charset="0"/>
              </a:rPr>
              <a:t>σ </a:t>
            </a:r>
            <a:r>
              <a:rPr lang="en-US" altLang="ja-JP" sz="800" dirty="0" err="1">
                <a:latin typeface="Courier New" panose="02070309020205020404" pitchFamily="49" charset="0"/>
              </a:rPr>
              <a:t>d_j</a:t>
            </a:r>
            <a:r>
              <a:rPr lang="en-US" altLang="ja-JP" sz="800" dirty="0">
                <a:latin typeface="Courier New" panose="02070309020205020404" pitchFamily="49" charset="0"/>
              </a:rPr>
              <a:t>)</a:t>
            </a:r>
            <a:br>
              <a:rPr lang="en-US" altLang="ja-JP" sz="800" dirty="0">
                <a:latin typeface="Courier New" panose="02070309020205020404" pitchFamily="49" charset="0"/>
              </a:rPr>
            </a:br>
            <a:r>
              <a:rPr lang="en-US" altLang="ja-JP" sz="800" dirty="0">
                <a:latin typeface="Courier New" panose="02070309020205020404" pitchFamily="49" charset="0"/>
              </a:rPr>
              <a:t>q = </a:t>
            </a:r>
            <a:r>
              <a:rPr lang="el-GR" altLang="ja-JP" sz="800" dirty="0">
                <a:latin typeface="Courier New" panose="02070309020205020404" pitchFamily="49" charset="0"/>
              </a:rPr>
              <a:t>ρ_</a:t>
            </a:r>
            <a:r>
              <a:rPr lang="en-US" altLang="ja-JP" sz="800" dirty="0">
                <a:latin typeface="Courier New" panose="02070309020205020404" pitchFamily="49" charset="0"/>
              </a:rPr>
              <a:t>g U_g^2 / (</a:t>
            </a:r>
            <a:r>
              <a:rPr lang="el-GR" altLang="ja-JP" sz="800" dirty="0">
                <a:latin typeface="Courier New" panose="02070309020205020404" pitchFamily="49" charset="0"/>
              </a:rPr>
              <a:t>ρ_</a:t>
            </a:r>
            <a:r>
              <a:rPr lang="en-US" altLang="ja-JP" sz="800" dirty="0">
                <a:latin typeface="Courier New" panose="02070309020205020404" pitchFamily="49" charset="0"/>
              </a:rPr>
              <a:t>l U_l^2)</a:t>
            </a:r>
          </a:p>
        </p:txBody>
      </p:sp>
    </p:spTree>
    <p:extLst>
      <p:ext uri="{BB962C8B-B14F-4D97-AF65-F5344CB8AC3E}">
        <p14:creationId xmlns:p14="http://schemas.microsoft.com/office/powerpoint/2010/main" val="42459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3A391-A8F2-E3AB-5056-B6989D535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0658BD-A9A6-5BEB-0CC5-F9178552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NewCode</a:t>
            </a:r>
            <a:r>
              <a:rPr lang="ja-JP" altLang="en-US" dirty="0"/>
              <a:t>の改造点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9598CA-74CC-A352-31AF-CEC2F970C676}"/>
              </a:ext>
            </a:extLst>
          </p:cNvPr>
          <p:cNvSpPr txBox="1"/>
          <p:nvPr/>
        </p:nvSpPr>
        <p:spPr>
          <a:xfrm>
            <a:off x="258618" y="831273"/>
            <a:ext cx="65410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・備考ページ：手法、用語、変数説明、、、</a:t>
            </a:r>
            <a:endParaRPr lang="en-US" altLang="ja-JP" sz="1200" dirty="0"/>
          </a:p>
          <a:p>
            <a:r>
              <a:rPr kumimoji="1" lang="ja-JP" altLang="en-US" sz="1200" dirty="0"/>
              <a:t>・動的</a:t>
            </a:r>
            <a:r>
              <a:rPr kumimoji="1" lang="en-US" altLang="ja-JP" sz="1200" dirty="0"/>
              <a:t>	</a:t>
            </a:r>
            <a:r>
              <a:rPr kumimoji="1" lang="ja-JP" altLang="en-US" sz="1200" dirty="0"/>
              <a:t>：</a:t>
            </a:r>
            <a:endParaRPr kumimoji="1" lang="en-US" altLang="ja-JP" sz="1200" dirty="0"/>
          </a:p>
          <a:p>
            <a:r>
              <a:rPr lang="ja-JP" altLang="en-US" sz="1200" dirty="0"/>
              <a:t>・他のプロジェクトの重ね書き機能を追加</a:t>
            </a:r>
            <a:endParaRPr lang="en-US" altLang="ja-JP" sz="1200" dirty="0"/>
          </a:p>
          <a:p>
            <a:r>
              <a:rPr lang="ja-JP" altLang="en-US" sz="1200" dirty="0"/>
              <a:t>・プロジェクト、ケース単位で全保存し、次回は再現</a:t>
            </a:r>
            <a:endParaRPr lang="en-US" altLang="ja-JP" sz="1200" dirty="0"/>
          </a:p>
          <a:p>
            <a:endParaRPr lang="en-US" altLang="ja-JP" sz="1200" dirty="0"/>
          </a:p>
          <a:p>
            <a:endParaRPr lang="en-US" altLang="ja-JP" sz="1200" dirty="0"/>
          </a:p>
          <a:p>
            <a:endParaRPr lang="en-US" altLang="ja-JP" sz="1200" dirty="0"/>
          </a:p>
          <a:p>
            <a:r>
              <a:rPr lang="ja-JP" altLang="en-US" sz="1200" dirty="0"/>
              <a:t>スキーム改造点</a:t>
            </a:r>
            <a:endParaRPr lang="en-US" altLang="ja-JP" sz="1200" dirty="0"/>
          </a:p>
          <a:p>
            <a:r>
              <a:rPr lang="ja-JP" altLang="en-US" sz="1200" dirty="0"/>
              <a:t>①気層ソルバのアップグレード</a:t>
            </a:r>
            <a:endParaRPr lang="en-US" altLang="ja-JP" sz="1200" dirty="0"/>
          </a:p>
          <a:p>
            <a:r>
              <a:rPr lang="ja-JP" altLang="en-US" sz="1200" dirty="0"/>
              <a:t>　→</a:t>
            </a:r>
            <a:r>
              <a:rPr lang="en-US" altLang="ja-JP" sz="1200" dirty="0"/>
              <a:t>Euler</a:t>
            </a:r>
            <a:r>
              <a:rPr lang="ja-JP" altLang="en-US" sz="1200" dirty="0"/>
              <a:t>差分法、</a:t>
            </a:r>
            <a:r>
              <a:rPr lang="en-US" altLang="ja-JP" sz="1200" dirty="0"/>
              <a:t>ROE</a:t>
            </a:r>
            <a:r>
              <a:rPr lang="ja-JP" altLang="en-US" sz="1200" dirty="0"/>
              <a:t>スキームなど</a:t>
            </a:r>
            <a:endParaRPr lang="en-US" altLang="ja-JP" sz="1200" dirty="0"/>
          </a:p>
          <a:p>
            <a:r>
              <a:rPr lang="ja-JP" altLang="en-US" sz="1200" dirty="0"/>
              <a:t>　→蒸気物性導入（</a:t>
            </a:r>
            <a:r>
              <a:rPr lang="en-US" altLang="ja-JP" sz="1200" dirty="0"/>
              <a:t>IF97</a:t>
            </a:r>
            <a:r>
              <a:rPr lang="ja-JP" altLang="en-US" sz="1200" dirty="0"/>
              <a:t>）</a:t>
            </a:r>
            <a:endParaRPr lang="en-US" altLang="ja-JP" sz="1200" dirty="0"/>
          </a:p>
          <a:p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7374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0163-E105-1D2F-55AB-8E3770E73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1BFC8B-FCB5-8F27-A32A-EAA65ECD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2780287"/>
            <a:ext cx="11861800" cy="379942"/>
          </a:xfrm>
        </p:spPr>
        <p:txBody>
          <a:bodyPr>
            <a:noAutofit/>
          </a:bodyPr>
          <a:lstStyle/>
          <a:p>
            <a:pPr algn="ctr"/>
            <a:r>
              <a:rPr kumimoji="1" lang="ja-JP" altLang="en-US" sz="4000" dirty="0"/>
              <a:t>改造構想</a:t>
            </a:r>
          </a:p>
        </p:txBody>
      </p:sp>
    </p:spTree>
    <p:extLst>
      <p:ext uri="{BB962C8B-B14F-4D97-AF65-F5344CB8AC3E}">
        <p14:creationId xmlns:p14="http://schemas.microsoft.com/office/powerpoint/2010/main" val="2942767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A480D0-5386-C2C6-817B-17DB18D7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B194FAF6-4F1B-71A1-8266-9681635896B7}"/>
                  </a:ext>
                </a:extLst>
              </p:cNvPr>
              <p:cNvSpPr txBox="1"/>
              <p:nvPr/>
            </p:nvSpPr>
            <p:spPr>
              <a:xfrm>
                <a:off x="240146" y="836060"/>
                <a:ext cx="391621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000" b="1" dirty="0"/>
                  <a:t>液滴破砕モデル（</a:t>
                </a:r>
                <a:r>
                  <a:rPr lang="en-US" altLang="ja-JP" sz="1000" b="1" dirty="0"/>
                  <a:t>TAB</a:t>
                </a:r>
                <a:r>
                  <a:rPr lang="ja-JP" altLang="en-US" sz="1000" b="1" dirty="0"/>
                  <a:t>モデル）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ja-JP" sz="1000" b="1" dirty="0"/>
                  <a:t>Taylor Analogy Breakup (TAB)</a:t>
                </a:r>
                <a:r>
                  <a:rPr lang="ja-JP" altLang="en-US" sz="1000" dirty="0"/>
                  <a:t> モデルを採用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液滴変形を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b="1" dirty="0"/>
                  <a:t>ばね</a:t>
                </a:r>
                <a:r>
                  <a:rPr lang="en-US" altLang="ja-JP" sz="1000" b="1" dirty="0"/>
                  <a:t>–</a:t>
                </a:r>
                <a:r>
                  <a:rPr lang="ja-JP" altLang="en-US" sz="1000" b="1" dirty="0"/>
                  <a:t>質点系</a:t>
                </a:r>
                <a:r>
                  <a:rPr lang="ja-JP" altLang="en-US" sz="1000" dirty="0"/>
                  <a:t>に類推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状態変数：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ja-JP" altLang="en-US" sz="1000" dirty="0"/>
                  <a:t>無次元赤道変位 </a:t>
                </a:r>
                <a14:m>
                  <m:oMath xmlns:m="http://schemas.openxmlformats.org/officeDocument/2006/math">
                    <m:r>
                      <a:rPr lang="ja-JP" altLang="en-US" sz="1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ja-JP" altLang="en-US" sz="1000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B194FAF6-4F1B-71A1-8266-968163589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46" y="836060"/>
                <a:ext cx="3916218" cy="1015663"/>
              </a:xfrm>
              <a:prstGeom prst="rect">
                <a:avLst/>
              </a:prstGeom>
              <a:blipFill>
                <a:blip r:embed="rId2"/>
                <a:stretch>
                  <a:fillRect b="-23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174B4E4C-2DCF-0481-3745-CA695660B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72026"/>
            <a:ext cx="2419688" cy="85737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67861D-41E6-E107-CF44-8F500567419F}"/>
              </a:ext>
            </a:extLst>
          </p:cNvPr>
          <p:cNvSpPr txBox="1"/>
          <p:nvPr/>
        </p:nvSpPr>
        <p:spPr>
          <a:xfrm>
            <a:off x="240146" y="2521696"/>
            <a:ext cx="241968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000" dirty="0"/>
              <a:t>■データ管理</a:t>
            </a:r>
            <a:endParaRPr lang="en-US" altLang="ja-JP" sz="1000" dirty="0"/>
          </a:p>
          <a:p>
            <a:pPr>
              <a:buNone/>
            </a:pPr>
            <a:r>
              <a:rPr lang="ja-JP" altLang="en-US" sz="1000" dirty="0"/>
              <a:t>・プロジェクト</a:t>
            </a:r>
            <a:endParaRPr lang="en-US" altLang="ja-JP" sz="1000" dirty="0"/>
          </a:p>
          <a:p>
            <a:pPr>
              <a:buNone/>
            </a:pPr>
            <a:r>
              <a:rPr lang="ja-JP" altLang="en-US" sz="1000" dirty="0"/>
              <a:t>・ケース</a:t>
            </a:r>
            <a:endParaRPr lang="en-US" altLang="ja-JP" sz="1000" dirty="0"/>
          </a:p>
          <a:p>
            <a:pPr>
              <a:buNone/>
            </a:pPr>
            <a:endParaRPr lang="en-US" altLang="ja-JP" sz="1000" dirty="0"/>
          </a:p>
          <a:p>
            <a:pPr>
              <a:buNone/>
            </a:pPr>
            <a:r>
              <a:rPr lang="ja-JP" altLang="en-US" sz="1000" dirty="0"/>
              <a:t>■右半分チャットモード</a:t>
            </a:r>
            <a:endParaRPr lang="en-US" altLang="ja-JP" sz="1000" dirty="0"/>
          </a:p>
          <a:p>
            <a:pPr>
              <a:buNone/>
            </a:pPr>
            <a:r>
              <a:rPr lang="ja-JP" altLang="en-US" sz="1000" dirty="0"/>
              <a:t>・</a:t>
            </a:r>
            <a:endParaRPr lang="en-US" altLang="ja-JP" sz="1000" dirty="0"/>
          </a:p>
          <a:p>
            <a:pPr>
              <a:buNone/>
            </a:pPr>
            <a:endParaRPr lang="en-US" altLang="ja-JP" sz="1000" dirty="0"/>
          </a:p>
          <a:p>
            <a:pPr>
              <a:buNone/>
            </a:pPr>
            <a:r>
              <a:rPr lang="ja-JP" altLang="en-US" sz="1000" dirty="0"/>
              <a:t>■</a:t>
            </a:r>
            <a:r>
              <a:rPr lang="en-US" altLang="ja-JP" sz="1000" dirty="0"/>
              <a:t>TEST</a:t>
            </a:r>
            <a:r>
              <a:rPr lang="ja-JP" altLang="en-US" sz="1000" dirty="0"/>
              <a:t>モード</a:t>
            </a:r>
            <a:endParaRPr lang="en-US" altLang="ja-JP" sz="1000" dirty="0"/>
          </a:p>
          <a:p>
            <a:pPr>
              <a:buNone/>
            </a:pPr>
            <a:r>
              <a:rPr lang="ja-JP" altLang="en-US" sz="1000" dirty="0"/>
              <a:t>・検証データ探索</a:t>
            </a:r>
            <a:endParaRPr lang="en-US" altLang="ja-JP" sz="1000" dirty="0"/>
          </a:p>
          <a:p>
            <a:pPr>
              <a:buNone/>
            </a:pPr>
            <a:r>
              <a:rPr lang="ja-JP" altLang="en-US" sz="1000" dirty="0"/>
              <a:t>・自動検証</a:t>
            </a:r>
            <a:endParaRPr lang="en-US" altLang="ja-JP" sz="1000" dirty="0"/>
          </a:p>
          <a:p>
            <a:pPr>
              <a:buNone/>
            </a:pPr>
            <a:endParaRPr lang="en-US" altLang="ja-JP" sz="1000" dirty="0"/>
          </a:p>
          <a:p>
            <a:pPr>
              <a:buNone/>
            </a:pPr>
            <a:r>
              <a:rPr lang="ja-JP" altLang="en-US" sz="1000" dirty="0"/>
              <a:t>■レポート機能</a:t>
            </a:r>
            <a:endParaRPr lang="en-US" altLang="ja-JP" sz="1000" dirty="0"/>
          </a:p>
          <a:p>
            <a:pPr>
              <a:buNone/>
            </a:pPr>
            <a:r>
              <a:rPr lang="ja-JP" altLang="en-US" sz="1000" dirty="0"/>
              <a:t>・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3763DCF-7B35-5293-B27D-119EF0D3B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364" y="497875"/>
            <a:ext cx="3172268" cy="676369"/>
          </a:xfrm>
          <a:prstGeom prst="rect">
            <a:avLst/>
          </a:prstGeom>
        </p:spPr>
      </p:pic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4354A0BD-B93E-9F08-38AB-FCDAF4A045EA}"/>
              </a:ext>
            </a:extLst>
          </p:cNvPr>
          <p:cNvGrpSpPr/>
          <p:nvPr/>
        </p:nvGrpSpPr>
        <p:grpSpPr>
          <a:xfrm>
            <a:off x="4143664" y="1449741"/>
            <a:ext cx="3184968" cy="748395"/>
            <a:chOff x="4497166" y="4042681"/>
            <a:chExt cx="3184968" cy="748395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E485D2A0-9CD2-167E-916F-EF1436556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7166" y="4042681"/>
              <a:ext cx="2604674" cy="676369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1A8B6EFF-D1EF-0747-DD18-181332218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10554" y="4276654"/>
              <a:ext cx="571580" cy="514422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B0FD2F8A-261A-B52F-0B72-69696C971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50647" y="4399915"/>
              <a:ext cx="200053" cy="247685"/>
            </a:xfrm>
            <a:prstGeom prst="rect">
              <a:avLst/>
            </a:prstGeom>
          </p:spPr>
        </p:pic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61DF6052-3AFE-517E-56B7-E3AE5845B6EA}"/>
                </a:ext>
              </a:extLst>
            </p:cNvPr>
            <p:cNvSpPr/>
            <p:nvPr/>
          </p:nvSpPr>
          <p:spPr>
            <a:xfrm>
              <a:off x="7101840" y="4349115"/>
              <a:ext cx="454660" cy="338185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5451D790-1F9B-BA41-909B-F369E11FAD12}"/>
                </a:ext>
              </a:extLst>
            </p:cNvPr>
            <p:cNvSpPr/>
            <p:nvPr/>
          </p:nvSpPr>
          <p:spPr>
            <a:xfrm>
              <a:off x="5899150" y="4146550"/>
              <a:ext cx="152400" cy="2025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矢印: 右 15">
            <a:extLst>
              <a:ext uri="{FF2B5EF4-FFF2-40B4-BE49-F238E27FC236}">
                <a16:creationId xmlns:a16="http://schemas.microsoft.com/office/drawing/2014/main" id="{4543C7D3-551F-1FBA-0E41-397404094E3E}"/>
              </a:ext>
            </a:extLst>
          </p:cNvPr>
          <p:cNvSpPr/>
          <p:nvPr/>
        </p:nvSpPr>
        <p:spPr>
          <a:xfrm rot="5400000">
            <a:off x="5509072" y="1115949"/>
            <a:ext cx="377952" cy="45564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6BE812B-E691-4E96-D1DB-E2085586F548}"/>
              </a:ext>
            </a:extLst>
          </p:cNvPr>
          <p:cNvSpPr txBox="1"/>
          <p:nvPr/>
        </p:nvSpPr>
        <p:spPr>
          <a:xfrm>
            <a:off x="3348802" y="24539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effectLst/>
                <a:latin typeface="Segoe WPC"/>
              </a:rPr>
              <a:t>単位管理方法を改善したい。</a:t>
            </a:r>
            <a:r>
              <a:rPr lang="en-US" altLang="ja-JP" sz="1200" b="0" i="0" dirty="0">
                <a:effectLst/>
                <a:latin typeface="Segoe WPC"/>
              </a:rPr>
              <a:t>SDD</a:t>
            </a:r>
            <a:r>
              <a:rPr lang="ja-JP" altLang="en-US" sz="1200" b="0" i="0" dirty="0">
                <a:effectLst/>
                <a:latin typeface="Segoe WPC"/>
              </a:rPr>
              <a:t>の作法に従い、実装して。</a:t>
            </a:r>
            <a:endParaRPr lang="en-US" altLang="ja-JP" sz="1200" b="0" i="0" dirty="0">
              <a:effectLst/>
              <a:latin typeface="Segoe WPC"/>
            </a:endParaRPr>
          </a:p>
          <a:p>
            <a:endParaRPr lang="en-US" altLang="ja-JP" sz="1200" dirty="0">
              <a:latin typeface="Segoe WPC"/>
            </a:endParaRPr>
          </a:p>
          <a:p>
            <a:r>
              <a:rPr lang="ja-JP" altLang="en-US" sz="1200" b="0" i="0" dirty="0">
                <a:effectLst/>
                <a:latin typeface="Segoe WPC"/>
              </a:rPr>
              <a:t>要点は以下の通り：①各物理量の</a:t>
            </a:r>
            <a:r>
              <a:rPr lang="en-US" altLang="ja-JP" sz="1200" b="0" i="0" dirty="0" err="1">
                <a:effectLst/>
                <a:latin typeface="Segoe WPC"/>
              </a:rPr>
              <a:t>JsON</a:t>
            </a:r>
            <a:r>
              <a:rPr lang="ja-JP" altLang="en-US" sz="1200" b="0" i="0" dirty="0">
                <a:effectLst/>
                <a:latin typeface="Segoe WPC"/>
              </a:rPr>
              <a:t>データは、必ず単位を含む（追加する）　</a:t>
            </a:r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17030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B20433-BE0B-3047-FD30-3D12AF4BB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558948CA-2183-3E39-71EE-BCD123E1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470" y="0"/>
            <a:ext cx="6887059" cy="68580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DA0D4FC-AE9C-CFB1-DABC-2249ACF4B731}"/>
              </a:ext>
            </a:extLst>
          </p:cNvPr>
          <p:cNvSpPr/>
          <p:nvPr/>
        </p:nvSpPr>
        <p:spPr>
          <a:xfrm>
            <a:off x="4188542" y="639097"/>
            <a:ext cx="5201264" cy="4503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1636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40ABD-28ED-2C3F-3299-7B98CC5B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1D8FDD-0240-3275-E91F-2A6E65C2B0D5}"/>
              </a:ext>
            </a:extLst>
          </p:cNvPr>
          <p:cNvSpPr txBox="1"/>
          <p:nvPr/>
        </p:nvSpPr>
        <p:spPr>
          <a:xfrm>
            <a:off x="152400" y="646545"/>
            <a:ext cx="100260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SDD</a:t>
            </a:r>
            <a:r>
              <a:rPr kumimoji="1" lang="ja-JP" altLang="en-US" dirty="0"/>
              <a:t>の作法に従い、以下実装して：①</a:t>
            </a:r>
            <a:r>
              <a:rPr kumimoji="1" lang="en-US" altLang="ja-JP" dirty="0"/>
              <a:t>output</a:t>
            </a:r>
            <a:r>
              <a:rPr kumimoji="1" lang="ja-JP" altLang="en-US" dirty="0"/>
              <a:t>ディレクトリには、</a:t>
            </a:r>
            <a:r>
              <a:rPr kumimoji="1" lang="en-US" altLang="ja-JP" dirty="0"/>
              <a:t>Project</a:t>
            </a:r>
            <a:r>
              <a:rPr lang="ja-JP" altLang="en-US" dirty="0"/>
              <a:t> </a:t>
            </a:r>
            <a:r>
              <a:rPr lang="en-US" altLang="ja-JP" dirty="0"/>
              <a:t>Folder</a:t>
            </a:r>
            <a:r>
              <a:rPr kumimoji="1" lang="en-US" altLang="ja-JP" dirty="0"/>
              <a:t>/Case</a:t>
            </a:r>
            <a:r>
              <a:rPr lang="ja-JP" altLang="en-US" dirty="0"/>
              <a:t> </a:t>
            </a:r>
            <a:r>
              <a:rPr lang="en-US" altLang="ja-JP" dirty="0"/>
              <a:t>Folder </a:t>
            </a:r>
            <a:r>
              <a:rPr lang="ja-JP" altLang="en-US" dirty="0"/>
              <a:t>の構成で各ケースの計算結果が全て格納される　②アプリ立ち上げ時に</a:t>
            </a:r>
            <a:r>
              <a:rPr lang="en-US" altLang="ja-JP" dirty="0"/>
              <a:t>Case Folder</a:t>
            </a:r>
            <a:r>
              <a:rPr lang="ja-JP" altLang="en-US" dirty="0"/>
              <a:t>の構成に従い、</a:t>
            </a:r>
            <a:r>
              <a:rPr lang="en-US" altLang="ja-JP" dirty="0"/>
              <a:t>output folder </a:t>
            </a:r>
            <a:r>
              <a:rPr lang="ja-JP" altLang="en-US" dirty="0"/>
              <a:t>にディレクトリ</a:t>
            </a:r>
            <a:r>
              <a:rPr lang="en-US" altLang="ja-JP" dirty="0"/>
              <a:t>Tree</a:t>
            </a:r>
            <a:r>
              <a:rPr lang="ja-JP" altLang="en-US" dirty="0"/>
              <a:t>を作成。この時、</a:t>
            </a:r>
            <a:r>
              <a:rPr lang="en-US" altLang="ja-JP" dirty="0"/>
              <a:t>Output</a:t>
            </a:r>
            <a:r>
              <a:rPr lang="ja-JP" altLang="en-US" dirty="0"/>
              <a:t>フォルダに</a:t>
            </a:r>
            <a:r>
              <a:rPr lang="en-US" altLang="ja-JP" dirty="0"/>
              <a:t>Case Folder</a:t>
            </a:r>
            <a:r>
              <a:rPr lang="ja-JP" altLang="en-US" dirty="0"/>
              <a:t>に対応しないフォルダがあった場合、</a:t>
            </a:r>
            <a:r>
              <a:rPr lang="en-US" altLang="ja-JP" dirty="0"/>
              <a:t>output/backup folder </a:t>
            </a:r>
            <a:r>
              <a:rPr lang="ja-JP" altLang="en-US" dirty="0"/>
              <a:t>に移動。③</a:t>
            </a:r>
            <a:r>
              <a:rPr lang="en-US" altLang="ja-JP" dirty="0"/>
              <a:t>solve</a:t>
            </a:r>
            <a:r>
              <a:rPr lang="ja-JP" altLang="en-US" dirty="0"/>
              <a:t>　が実行されたとき、</a:t>
            </a:r>
            <a:r>
              <a:rPr lang="en-US" altLang="ja-JP" dirty="0"/>
              <a:t>Output</a:t>
            </a:r>
            <a:r>
              <a:rPr lang="ja-JP" altLang="en-US" dirty="0"/>
              <a:t>フォルダに関連フォルダを作成し、関連データを格納。④ケース名を選択され、</a:t>
            </a:r>
            <a:r>
              <a:rPr lang="en-US" altLang="ja-JP" dirty="0"/>
              <a:t>Graph</a:t>
            </a:r>
            <a:r>
              <a:rPr lang="ja-JP" altLang="en-US" dirty="0"/>
              <a:t>タブ、</a:t>
            </a:r>
            <a:r>
              <a:rPr lang="en-US" altLang="ja-JP" dirty="0"/>
              <a:t>Table Tab , Report Tab</a:t>
            </a:r>
            <a:r>
              <a:rPr lang="ja-JP" altLang="en-US" dirty="0"/>
              <a:t>がクリックされたら、</a:t>
            </a:r>
            <a:r>
              <a:rPr lang="en-US" altLang="ja-JP" dirty="0"/>
              <a:t>Output</a:t>
            </a:r>
            <a:r>
              <a:rPr lang="ja-JP" altLang="en-US" dirty="0"/>
              <a:t>フォルダからデータを読み込み、</a:t>
            </a:r>
            <a:r>
              <a:rPr lang="en-US" altLang="ja-JP" dirty="0"/>
              <a:t>Graph , Table , </a:t>
            </a:r>
            <a:r>
              <a:rPr lang="ja-JP" altLang="en-US" dirty="0"/>
              <a:t> </a:t>
            </a:r>
            <a:r>
              <a:rPr lang="en-US" altLang="ja-JP" dirty="0"/>
              <a:t>Report</a:t>
            </a:r>
            <a:r>
              <a:rPr lang="ja-JP" altLang="en-US" dirty="0"/>
              <a:t>を即表示。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24442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8822EC-201D-8855-6EA6-E40CA4BE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133CCE-B6B6-1392-0002-63245DAB044D}"/>
              </a:ext>
            </a:extLst>
          </p:cNvPr>
          <p:cNvSpPr txBox="1"/>
          <p:nvPr/>
        </p:nvSpPr>
        <p:spPr>
          <a:xfrm>
            <a:off x="314960" y="6408046"/>
            <a:ext cx="4035137" cy="2154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800" dirty="0"/>
              <a:t>User → Frontend → Backend API → Router → Endpoint → </a:t>
            </a:r>
            <a:r>
              <a:rPr lang="ja-JP" altLang="en-US" sz="800" dirty="0"/>
              <a:t>処理本体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5251BED-3494-1766-8183-FDF349A7A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" y="544194"/>
            <a:ext cx="4035137" cy="576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17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E7F30-927A-9411-3A39-007AE569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Web</a:t>
            </a:r>
            <a:r>
              <a:rPr kumimoji="1" lang="ja-JP" altLang="en-US" dirty="0"/>
              <a:t>　</a:t>
            </a:r>
            <a:r>
              <a:rPr kumimoji="1" lang="en-US" altLang="ja-JP" dirty="0"/>
              <a:t>Application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8A2AFC-9B6D-A9EC-ECEC-5175D1403B43}"/>
              </a:ext>
            </a:extLst>
          </p:cNvPr>
          <p:cNvSpPr txBox="1"/>
          <p:nvPr/>
        </p:nvSpPr>
        <p:spPr>
          <a:xfrm>
            <a:off x="2987040" y="2886793"/>
            <a:ext cx="39300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/>
              <a:t>├─ 3. Simulation Router</a:t>
            </a:r>
            <a:br>
              <a:rPr lang="en-US" altLang="ja-JP" sz="1000" dirty="0"/>
            </a:br>
            <a:r>
              <a:rPr lang="en-US" altLang="ja-JP" sz="1000" dirty="0"/>
              <a:t>│ └─ Prefix: /</a:t>
            </a:r>
            <a:r>
              <a:rPr lang="en-US" altLang="ja-JP" sz="1000" dirty="0" err="1"/>
              <a:t>api</a:t>
            </a:r>
            <a:r>
              <a:rPr lang="en-US" altLang="ja-JP" sz="1000" dirty="0"/>
              <a:t>/simulation</a:t>
            </a:r>
            <a:br>
              <a:rPr lang="en-US" altLang="ja-JP" sz="1000" dirty="0"/>
            </a:br>
            <a:r>
              <a:rPr lang="en-US" altLang="ja-JP" sz="1000" dirty="0"/>
              <a:t>│</a:t>
            </a:r>
            <a:br>
              <a:rPr lang="en-US" altLang="ja-JP" sz="1000" dirty="0"/>
            </a:br>
            <a:r>
              <a:rPr lang="en-US" altLang="ja-JP" sz="1000" dirty="0"/>
              <a:t>│ ├─ POST /</a:t>
            </a:r>
            <a:r>
              <a:rPr lang="en-US" altLang="ja-JP" sz="1000" dirty="0" err="1"/>
              <a:t>api</a:t>
            </a:r>
            <a:r>
              <a:rPr lang="en-US" altLang="ja-JP" sz="1000" dirty="0"/>
              <a:t>/simulation/run</a:t>
            </a:r>
            <a:br>
              <a:rPr lang="en-US" altLang="ja-JP" sz="1000" dirty="0"/>
            </a:br>
            <a:r>
              <a:rPr lang="en-US" altLang="ja-JP" sz="1000" dirty="0"/>
              <a:t>│ │ └─ </a:t>
            </a:r>
            <a:r>
              <a:rPr lang="ja-JP" altLang="en-US" sz="1000" dirty="0"/>
              <a:t>バックグラウンドで</a:t>
            </a:r>
            <a:r>
              <a:rPr lang="en-US" altLang="ja-JP" sz="1000" dirty="0"/>
              <a:t>Solver</a:t>
            </a:r>
            <a:r>
              <a:rPr lang="ja-JP" altLang="en-US" sz="1000" dirty="0"/>
              <a:t>実行開始</a:t>
            </a:r>
            <a:br>
              <a:rPr lang="ja-JP" altLang="en-US" sz="1000" dirty="0"/>
            </a:br>
            <a:r>
              <a:rPr lang="ja-JP" altLang="en-US" sz="1000" dirty="0"/>
              <a:t>│ ├─ </a:t>
            </a:r>
            <a:r>
              <a:rPr lang="en-US" altLang="ja-JP" sz="1000" dirty="0"/>
              <a:t>GET /</a:t>
            </a:r>
            <a:r>
              <a:rPr lang="en-US" altLang="ja-JP" sz="1000" dirty="0" err="1"/>
              <a:t>api</a:t>
            </a:r>
            <a:r>
              <a:rPr lang="en-US" altLang="ja-JP" sz="1000" dirty="0"/>
              <a:t>/simulation/status/{</a:t>
            </a:r>
            <a:r>
              <a:rPr lang="en-US" altLang="ja-JP" sz="1000" dirty="0" err="1"/>
              <a:t>job_id</a:t>
            </a:r>
            <a:r>
              <a:rPr lang="en-US" altLang="ja-JP" sz="1000" dirty="0"/>
              <a:t>}</a:t>
            </a:r>
            <a:br>
              <a:rPr lang="en-US" altLang="ja-JP" sz="1000" dirty="0"/>
            </a:br>
            <a:r>
              <a:rPr lang="en-US" altLang="ja-JP" sz="1000" dirty="0"/>
              <a:t>│ │ └─ </a:t>
            </a:r>
            <a:r>
              <a:rPr lang="ja-JP" altLang="en-US" sz="1000" dirty="0"/>
              <a:t>実行中ジョブの状態確認</a:t>
            </a:r>
            <a:br>
              <a:rPr lang="ja-JP" altLang="en-US" sz="1000" dirty="0"/>
            </a:br>
            <a:r>
              <a:rPr lang="ja-JP" altLang="en-US" sz="1000" dirty="0"/>
              <a:t>│ └─ </a:t>
            </a:r>
            <a:r>
              <a:rPr lang="en-US" altLang="ja-JP" sz="1000" dirty="0"/>
              <a:t>GET /</a:t>
            </a:r>
            <a:r>
              <a:rPr lang="en-US" altLang="ja-JP" sz="1000" dirty="0" err="1"/>
              <a:t>api</a:t>
            </a:r>
            <a:r>
              <a:rPr lang="en-US" altLang="ja-JP" sz="1000" dirty="0"/>
              <a:t>/simulation/result/{</a:t>
            </a:r>
            <a:r>
              <a:rPr lang="en-US" altLang="ja-JP" sz="1000" dirty="0" err="1"/>
              <a:t>job_id</a:t>
            </a:r>
            <a:r>
              <a:rPr lang="en-US" altLang="ja-JP" sz="1000" dirty="0"/>
              <a:t>}</a:t>
            </a:r>
            <a:br>
              <a:rPr lang="en-US" altLang="ja-JP" sz="1000" dirty="0"/>
            </a:br>
            <a:r>
              <a:rPr lang="en-US" altLang="ja-JP" sz="1000" dirty="0"/>
              <a:t>│ └─ </a:t>
            </a:r>
            <a:r>
              <a:rPr lang="ja-JP" altLang="en-US" sz="1000" dirty="0"/>
              <a:t>解析結果、プロット、テーブル、</a:t>
            </a:r>
            <a:r>
              <a:rPr lang="en-US" altLang="ja-JP" sz="1000" dirty="0"/>
              <a:t>CSV</a:t>
            </a:r>
            <a:r>
              <a:rPr lang="ja-JP" altLang="en-US" sz="1000" dirty="0"/>
              <a:t>取得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16B1C17-8870-3123-A979-5CDA5936B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0" y="707140"/>
            <a:ext cx="3785510" cy="193818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64F73E6-22E8-DBFD-EB84-049C160761CB}"/>
              </a:ext>
            </a:extLst>
          </p:cNvPr>
          <p:cNvSpPr txBox="1"/>
          <p:nvPr/>
        </p:nvSpPr>
        <p:spPr>
          <a:xfrm>
            <a:off x="386080" y="1158300"/>
            <a:ext cx="2245360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1000" dirty="0"/>
              <a:t>User</a:t>
            </a:r>
            <a:br>
              <a:rPr lang="en-US" altLang="ja-JP" sz="1000" dirty="0"/>
            </a:br>
            <a:r>
              <a:rPr lang="en-US" altLang="ja-JP" sz="1000" dirty="0"/>
              <a:t>↓</a:t>
            </a:r>
            <a:br>
              <a:rPr lang="en-US" altLang="ja-JP" sz="1000" dirty="0"/>
            </a:br>
            <a:r>
              <a:rPr lang="en-US" altLang="ja-JP" sz="1000" dirty="0"/>
              <a:t>Frontend GUI</a:t>
            </a:r>
            <a:br>
              <a:rPr lang="en-US" altLang="ja-JP" sz="1000" dirty="0"/>
            </a:br>
            <a:r>
              <a:rPr lang="en-US" altLang="ja-JP" sz="1000" dirty="0"/>
              <a:t>↓ HTTP request</a:t>
            </a:r>
            <a:br>
              <a:rPr lang="en-US" altLang="ja-JP" sz="1000" dirty="0"/>
            </a:br>
            <a:r>
              <a:rPr lang="en-US" altLang="ja-JP" sz="1000" dirty="0"/>
              <a:t>Backend API</a:t>
            </a:r>
            <a:br>
              <a:rPr lang="en-US" altLang="ja-JP" sz="1000" dirty="0"/>
            </a:br>
            <a:r>
              <a:rPr lang="en-US" altLang="ja-JP" sz="1000" dirty="0"/>
              <a:t>├─ Index Router</a:t>
            </a:r>
            <a:br>
              <a:rPr lang="en-US" altLang="ja-JP" sz="1000" dirty="0"/>
            </a:br>
            <a:r>
              <a:rPr lang="en-US" altLang="ja-JP" sz="1000" dirty="0"/>
              <a:t>├─ Cases Router</a:t>
            </a:r>
            <a:br>
              <a:rPr lang="en-US" altLang="ja-JP" sz="1000" dirty="0"/>
            </a:br>
            <a:r>
              <a:rPr lang="en-US" altLang="ja-JP" sz="1000" dirty="0"/>
              <a:t>├─ Simulation Router</a:t>
            </a:r>
            <a:br>
              <a:rPr lang="en-US" altLang="ja-JP" sz="1000" dirty="0"/>
            </a:br>
            <a:r>
              <a:rPr lang="en-US" altLang="ja-JP" sz="1000" dirty="0"/>
              <a:t>├─ Chat Router</a:t>
            </a:r>
            <a:br>
              <a:rPr lang="en-US" altLang="ja-JP" sz="1000" dirty="0"/>
            </a:br>
            <a:r>
              <a:rPr lang="en-US" altLang="ja-JP" sz="1000" dirty="0"/>
              <a:t>├─ Units Router</a:t>
            </a:r>
            <a:br>
              <a:rPr lang="en-US" altLang="ja-JP" sz="1000" dirty="0"/>
            </a:br>
            <a:r>
              <a:rPr lang="en-US" altLang="ja-JP" sz="1000" dirty="0"/>
              <a:t>└─ Debug Router</a:t>
            </a:r>
            <a:endParaRPr lang="ja-JP" altLang="en-US" sz="1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812B133-777A-FF5A-B2E9-DAA92D441555}"/>
              </a:ext>
            </a:extLst>
          </p:cNvPr>
          <p:cNvSpPr txBox="1"/>
          <p:nvPr/>
        </p:nvSpPr>
        <p:spPr>
          <a:xfrm>
            <a:off x="386080" y="3656235"/>
            <a:ext cx="2245360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1000" dirty="0"/>
              <a:t>Simulation Router</a:t>
            </a:r>
            <a:br>
              <a:rPr lang="en-US" altLang="ja-JP" sz="1000" dirty="0"/>
            </a:br>
            <a:r>
              <a:rPr lang="en-US" altLang="ja-JP" sz="1000" dirty="0"/>
              <a:t>├─ POST /</a:t>
            </a:r>
            <a:r>
              <a:rPr lang="en-US" altLang="ja-JP" sz="1000" dirty="0" err="1"/>
              <a:t>api</a:t>
            </a:r>
            <a:r>
              <a:rPr lang="en-US" altLang="ja-JP" sz="1000" dirty="0"/>
              <a:t>/simulation/run</a:t>
            </a:r>
            <a:br>
              <a:rPr lang="en-US" altLang="ja-JP" sz="1000" dirty="0"/>
            </a:br>
            <a:r>
              <a:rPr lang="en-US" altLang="ja-JP" sz="1000" dirty="0"/>
              <a:t>├─ GET /</a:t>
            </a:r>
            <a:r>
              <a:rPr lang="en-US" altLang="ja-JP" sz="1000" dirty="0" err="1"/>
              <a:t>api</a:t>
            </a:r>
            <a:r>
              <a:rPr lang="en-US" altLang="ja-JP" sz="1000" dirty="0"/>
              <a:t>/simulation/status</a:t>
            </a:r>
            <a:br>
              <a:rPr lang="en-US" altLang="ja-JP" sz="1000" dirty="0"/>
            </a:br>
            <a:r>
              <a:rPr lang="en-US" altLang="ja-JP" sz="1000" dirty="0"/>
              <a:t>└─ GET /</a:t>
            </a:r>
            <a:r>
              <a:rPr lang="en-US" altLang="ja-JP" sz="1000" dirty="0" err="1"/>
              <a:t>api</a:t>
            </a:r>
            <a:r>
              <a:rPr lang="en-US" altLang="ja-JP" sz="1000" dirty="0"/>
              <a:t>/simulation/result</a:t>
            </a:r>
            <a:endParaRPr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C632060-00C4-68A3-68A7-BAC2AE25C230}"/>
              </a:ext>
            </a:extLst>
          </p:cNvPr>
          <p:cNvSpPr txBox="1"/>
          <p:nvPr/>
        </p:nvSpPr>
        <p:spPr>
          <a:xfrm>
            <a:off x="273158" y="769839"/>
            <a:ext cx="2358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>
                <a:latin typeface="+mn-ea"/>
              </a:rPr>
              <a:t>■</a:t>
            </a:r>
            <a:r>
              <a:rPr lang="en-US" altLang="ja-JP" sz="1000" dirty="0">
                <a:latin typeface="+mn-ea"/>
              </a:rPr>
              <a:t>API</a:t>
            </a:r>
            <a:r>
              <a:rPr lang="ja-JP" altLang="en-US" sz="1000" dirty="0">
                <a:latin typeface="+mn-ea"/>
              </a:rPr>
              <a:t>ルータ（</a:t>
            </a:r>
            <a:r>
              <a:rPr lang="en-US" altLang="ja-JP" sz="1000" dirty="0">
                <a:latin typeface="+mn-ea"/>
              </a:rPr>
              <a:t>6)</a:t>
            </a:r>
          </a:p>
          <a:p>
            <a:r>
              <a:rPr lang="ja-JP" altLang="en-US" sz="1000" dirty="0">
                <a:latin typeface="+mn-ea"/>
              </a:rPr>
              <a:t>　・</a:t>
            </a:r>
            <a:r>
              <a:rPr lang="en-US" altLang="ja-JP" sz="1000" dirty="0">
                <a:latin typeface="+mn-ea"/>
              </a:rPr>
              <a:t>router = category / module.</a:t>
            </a:r>
            <a:endParaRPr lang="ja-JP" altLang="en-US" sz="1000" dirty="0">
              <a:latin typeface="+mn-ea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E2C66F3-AE3C-9388-F1EE-007AC1B0A5CC}"/>
              </a:ext>
            </a:extLst>
          </p:cNvPr>
          <p:cNvSpPr txBox="1"/>
          <p:nvPr/>
        </p:nvSpPr>
        <p:spPr>
          <a:xfrm>
            <a:off x="283318" y="3039193"/>
            <a:ext cx="27748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>
                <a:latin typeface="+mn-ea"/>
              </a:rPr>
              <a:t>■</a:t>
            </a:r>
            <a:r>
              <a:rPr lang="en-US" altLang="ja-JP" sz="1000" dirty="0" err="1">
                <a:latin typeface="+mn-ea"/>
              </a:rPr>
              <a:t>EndPoints</a:t>
            </a:r>
            <a:r>
              <a:rPr lang="ja-JP" altLang="en-US" sz="1000" dirty="0">
                <a:latin typeface="+mn-ea"/>
              </a:rPr>
              <a:t>（</a:t>
            </a:r>
            <a:r>
              <a:rPr lang="en-US" altLang="ja-JP" sz="1000" dirty="0">
                <a:latin typeface="+mn-ea"/>
              </a:rPr>
              <a:t>40</a:t>
            </a:r>
            <a:r>
              <a:rPr lang="ja-JP" altLang="en-US" sz="1000" dirty="0">
                <a:latin typeface="+mn-ea"/>
              </a:rPr>
              <a:t>）</a:t>
            </a:r>
            <a:endParaRPr lang="en-US" altLang="ja-JP" sz="1000" dirty="0">
              <a:latin typeface="+mn-ea"/>
            </a:endParaRPr>
          </a:p>
          <a:p>
            <a:r>
              <a:rPr lang="ja-JP" altLang="en-US" sz="1000" dirty="0">
                <a:latin typeface="+mn-ea"/>
              </a:rPr>
              <a:t>　・</a:t>
            </a:r>
            <a:r>
              <a:rPr lang="en-US" altLang="ja-JP" sz="1000" dirty="0">
                <a:latin typeface="+mn-ea"/>
              </a:rPr>
              <a:t>endpoint = actual API entrance / URL.</a:t>
            </a:r>
          </a:p>
          <a:p>
            <a:r>
              <a:rPr lang="ja-JP" altLang="en-US" sz="1000" dirty="0">
                <a:latin typeface="+mn-ea"/>
              </a:rPr>
              <a:t>　・</a:t>
            </a:r>
            <a:r>
              <a:rPr lang="en-US" altLang="ja-JP" sz="1000" dirty="0">
                <a:latin typeface="+mn-ea"/>
              </a:rPr>
              <a:t>each router has several endpoints.</a:t>
            </a:r>
            <a:endParaRPr lang="ja-JP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9354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2C8576-8882-F734-1D23-6715EB1CE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API</a:t>
            </a:r>
            <a:r>
              <a:rPr lang="ja-JP" altLang="en-US" dirty="0"/>
              <a:t>コード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1DAA9A3-61A7-F8DB-1BEE-FC73E9F6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246" y="1889726"/>
            <a:ext cx="8225971" cy="281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79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84CE9A-2424-066D-E88C-D93695170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Router::Simulation::RUN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418F863-4DE7-4163-F7E2-02482CA2C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47312"/>
            <a:ext cx="1867161" cy="278168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E229163-4F65-482A-29F3-30F5B6B41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213" y="647312"/>
            <a:ext cx="9722987" cy="605536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4CC5D9D-DDBC-C579-E179-EEC409DC8B58}"/>
              </a:ext>
            </a:extLst>
          </p:cNvPr>
          <p:cNvSpPr/>
          <p:nvPr/>
        </p:nvSpPr>
        <p:spPr>
          <a:xfrm>
            <a:off x="2931886" y="647312"/>
            <a:ext cx="1973942" cy="1945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CA55D90-4A27-A75F-8CB4-37796F893BE6}"/>
              </a:ext>
            </a:extLst>
          </p:cNvPr>
          <p:cNvSpPr/>
          <p:nvPr/>
        </p:nvSpPr>
        <p:spPr>
          <a:xfrm>
            <a:off x="515260" y="2968175"/>
            <a:ext cx="1349828" cy="217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4692BC4-7E0B-6B6B-7B37-B9B2E43CDAD6}"/>
              </a:ext>
            </a:extLst>
          </p:cNvPr>
          <p:cNvSpPr/>
          <p:nvPr/>
        </p:nvSpPr>
        <p:spPr>
          <a:xfrm>
            <a:off x="4122058" y="4537141"/>
            <a:ext cx="1973942" cy="1945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CFF6B87-E085-4190-92C2-47CE950B28CB}"/>
              </a:ext>
            </a:extLst>
          </p:cNvPr>
          <p:cNvSpPr/>
          <p:nvPr/>
        </p:nvSpPr>
        <p:spPr>
          <a:xfrm>
            <a:off x="4071257" y="5619906"/>
            <a:ext cx="1973942" cy="1945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66501195-E18E-5E14-C904-B23FCE087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178" y="5409380"/>
            <a:ext cx="4475994" cy="1235236"/>
          </a:xfrm>
          <a:prstGeom prst="rect">
            <a:avLst/>
          </a:prstGeom>
          <a:ln w="34925">
            <a:solidFill>
              <a:srgbClr val="FFFF00"/>
            </a:solidFill>
          </a:ln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960445D-8E9A-37B4-7006-6B1AF392DF1B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6045199" y="5717165"/>
            <a:ext cx="1463979" cy="309833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図 19">
            <a:extLst>
              <a:ext uri="{FF2B5EF4-FFF2-40B4-BE49-F238E27FC236}">
                <a16:creationId xmlns:a16="http://schemas.microsoft.com/office/drawing/2014/main" id="{67DA841A-24FC-4E2E-08BA-3CCB631E5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178" y="3275834"/>
            <a:ext cx="4475994" cy="1358565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9E4109-97DC-57D6-B6E3-363E396557F8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 flipV="1">
            <a:off x="6096000" y="3955117"/>
            <a:ext cx="1413178" cy="679283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750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0A1F-749A-8582-DC01-61EC19693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1E2CD3-6E11-10DA-9759-60A13DF5C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Router::Simulation::GET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CF5FA94-7FCA-A639-976F-B94418F3F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47312"/>
            <a:ext cx="1867161" cy="278168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6C49F54-F026-3FB7-D927-37D233232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945" y="647312"/>
            <a:ext cx="9838495" cy="2781688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26291C1-4A44-EE4A-D125-002C5A4B6317}"/>
              </a:ext>
            </a:extLst>
          </p:cNvPr>
          <p:cNvSpPr/>
          <p:nvPr/>
        </p:nvSpPr>
        <p:spPr>
          <a:xfrm>
            <a:off x="493486" y="2975429"/>
            <a:ext cx="1349828" cy="217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A334DB8-78B1-79BA-8EF2-1E01F8210F73}"/>
              </a:ext>
            </a:extLst>
          </p:cNvPr>
          <p:cNvSpPr/>
          <p:nvPr/>
        </p:nvSpPr>
        <p:spPr>
          <a:xfrm>
            <a:off x="2931886" y="647312"/>
            <a:ext cx="7315200" cy="379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389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F80F9-C698-D5F2-6416-50C4ED109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BE44E5-CF7E-EABE-8846-D9B65446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Router::Simulation::GET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FE94784-F2FB-E4D0-356F-3F538509E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47312"/>
            <a:ext cx="1867161" cy="278168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ED0B1C7-366C-AD51-3E85-6AAA82886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753" y="647312"/>
            <a:ext cx="4738913" cy="612496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A68D587-1350-AC9C-620A-F3F14DAA7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666" y="647312"/>
            <a:ext cx="5105934" cy="6124962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61C3C39-F4CC-43DE-99D9-EE93B2EEC681}"/>
              </a:ext>
            </a:extLst>
          </p:cNvPr>
          <p:cNvSpPr/>
          <p:nvPr/>
        </p:nvSpPr>
        <p:spPr>
          <a:xfrm>
            <a:off x="493486" y="2975429"/>
            <a:ext cx="1349828" cy="217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AB37EF1-1044-84BD-0328-FA56362303FD}"/>
              </a:ext>
            </a:extLst>
          </p:cNvPr>
          <p:cNvSpPr/>
          <p:nvPr/>
        </p:nvSpPr>
        <p:spPr>
          <a:xfrm>
            <a:off x="2423886" y="647312"/>
            <a:ext cx="1683657" cy="1945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124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04DE02-667F-F96D-5375-59A6C2A2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</a:t>
            </a:r>
            <a:r>
              <a:rPr kumimoji="1" lang="en-US" altLang="ja-JP" dirty="0"/>
              <a:t>astapi_app.py :: </a:t>
            </a:r>
            <a:r>
              <a:rPr kumimoji="1" lang="ja-JP" altLang="en-US" dirty="0"/>
              <a:t>ルータを束ねるアプリ本体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93F3912-D02E-A009-F977-B68359FCF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114" y="682171"/>
            <a:ext cx="7170085" cy="608991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2068BA-066A-09C6-31EF-F60D4E07F668}"/>
              </a:ext>
            </a:extLst>
          </p:cNvPr>
          <p:cNvSpPr txBox="1"/>
          <p:nvPr/>
        </p:nvSpPr>
        <p:spPr>
          <a:xfrm>
            <a:off x="0" y="682171"/>
            <a:ext cx="4844114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effectLst/>
                <a:latin typeface="Consolas" panose="020B0609020204030204" pitchFamily="49" charset="0"/>
              </a:rPr>
              <a:t>"""</a:t>
            </a:r>
            <a:r>
              <a:rPr lang="en-US" altLang="ja-JP" sz="1200" b="0" dirty="0" err="1">
                <a:effectLst/>
                <a:latin typeface="Consolas" panose="020B0609020204030204" pitchFamily="49" charset="0"/>
              </a:rPr>
              <a:t>FastAPI</a:t>
            </a:r>
            <a:r>
              <a:rPr lang="en-US" altLang="ja-JP" sz="1200" b="0" dirty="0">
                <a:effectLst/>
                <a:latin typeface="Consolas" panose="020B0609020204030204" pitchFamily="49" charset="0"/>
              </a:rPr>
              <a:t> application factory for the Supersonic Atomizer GUI (P25-T03).</a:t>
            </a:r>
          </a:p>
          <a:p>
            <a:pPr>
              <a:lnSpc>
                <a:spcPts val="1425"/>
              </a:lnSpc>
              <a:buNone/>
            </a:pPr>
            <a:br>
              <a:rPr lang="en-US" altLang="ja-JP" sz="1200" b="0" dirty="0">
                <a:effectLst/>
                <a:latin typeface="Consolas" panose="020B0609020204030204" pitchFamily="49" charset="0"/>
              </a:rPr>
            </a:br>
            <a:endParaRPr lang="en-US" altLang="ja-JP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effectLst/>
                <a:latin typeface="Consolas" panose="020B0609020204030204" pitchFamily="49" charset="0"/>
              </a:rPr>
              <a:t>Architectural boundary (architecture.md, Appendix B.7.2):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effectLst/>
                <a:latin typeface="Consolas" panose="020B0609020204030204" pitchFamily="49" charset="0"/>
              </a:rPr>
              <a:t>- This module is the </a:t>
            </a:r>
            <a:r>
              <a:rPr lang="en-US" altLang="ja-JP" sz="1200" b="0" dirty="0" err="1">
                <a:effectLst/>
                <a:latin typeface="Consolas" panose="020B0609020204030204" pitchFamily="49" charset="0"/>
              </a:rPr>
              <a:t>FastAPI</a:t>
            </a:r>
            <a:r>
              <a:rPr lang="en-US" altLang="ja-JP" sz="1200" b="0" dirty="0">
                <a:effectLst/>
                <a:latin typeface="Consolas" panose="020B0609020204030204" pitchFamily="49" charset="0"/>
              </a:rPr>
              <a:t> equivalent of the </a:t>
            </a:r>
            <a:r>
              <a:rPr lang="en-US" altLang="ja-JP" sz="1200" b="0" dirty="0" err="1">
                <a:effectLst/>
                <a:latin typeface="Consolas" panose="020B0609020204030204" pitchFamily="49" charset="0"/>
              </a:rPr>
              <a:t>Streamlit</a:t>
            </a:r>
            <a:r>
              <a:rPr lang="en-US" altLang="ja-JP" sz="12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200" b="0" dirty="0" err="1">
                <a:effectLst/>
                <a:latin typeface="Consolas" panose="020B0609020204030204" pitchFamily="49" charset="0"/>
              </a:rPr>
              <a:t>gui</a:t>
            </a:r>
            <a:r>
              <a:rPr lang="en-US" altLang="ja-JP" sz="1200" b="0" dirty="0">
                <a:effectLst/>
                <a:latin typeface="Consolas" panose="020B0609020204030204" pitchFamily="49" charset="0"/>
              </a:rPr>
              <a:t>/app.py.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effectLst/>
                <a:latin typeface="Consolas" panose="020B0609020204030204" pitchFamily="49" charset="0"/>
              </a:rPr>
              <a:t>- It assembles the </a:t>
            </a:r>
            <a:r>
              <a:rPr lang="en-US" altLang="ja-JP" sz="1200" b="0" dirty="0" err="1">
                <a:effectLst/>
                <a:latin typeface="Consolas" panose="020B0609020204030204" pitchFamily="49" charset="0"/>
              </a:rPr>
              <a:t>FastAPI</a:t>
            </a:r>
            <a:r>
              <a:rPr lang="en-US" altLang="ja-JP" sz="1200" b="0" dirty="0">
                <a:effectLst/>
                <a:latin typeface="Consolas" panose="020B0609020204030204" pitchFamily="49" charset="0"/>
              </a:rPr>
              <a:t> application, mounts routers and static files.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effectLst/>
                <a:latin typeface="Consolas" panose="020B0609020204030204" pitchFamily="49" charset="0"/>
              </a:rPr>
              <a:t>- All application service calls go through </a:t>
            </a:r>
            <a:r>
              <a:rPr lang="en-US" altLang="ja-JP" sz="1200" b="0" dirty="0" err="1">
                <a:effectLst/>
                <a:latin typeface="Consolas" panose="020B0609020204030204" pitchFamily="49" charset="0"/>
              </a:rPr>
              <a:t>gui</a:t>
            </a:r>
            <a:r>
              <a:rPr lang="en-US" altLang="ja-JP" sz="1200" b="0" dirty="0">
                <a:effectLst/>
                <a:latin typeface="Consolas" panose="020B0609020204030204" pitchFamily="49" charset="0"/>
              </a:rPr>
              <a:t>/routers/* via service_bridge.py.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effectLst/>
                <a:latin typeface="Consolas" panose="020B0609020204030204" pitchFamily="49" charset="0"/>
              </a:rPr>
              <a:t>- Solver, config, domain, IO, and plotting layers are not imported here.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effectLst/>
                <a:latin typeface="Consolas" panose="020B0609020204030204" pitchFamily="49" charset="0"/>
              </a:rPr>
              <a:t>"""</a:t>
            </a:r>
          </a:p>
        </p:txBody>
      </p:sp>
    </p:spTree>
    <p:extLst>
      <p:ext uri="{BB962C8B-B14F-4D97-AF65-F5344CB8AC3E}">
        <p14:creationId xmlns:p14="http://schemas.microsoft.com/office/powerpoint/2010/main" val="3678070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943523-F45A-D682-780C-B4DE74C1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Service_bridge.py :: API</a:t>
            </a:r>
            <a:r>
              <a:rPr kumimoji="1" lang="ja-JP" altLang="en-US" dirty="0"/>
              <a:t>とアプリ層の橋渡し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089013-73B8-476F-10E5-48BD184EB5BF}"/>
              </a:ext>
            </a:extLst>
          </p:cNvPr>
          <p:cNvSpPr txBox="1"/>
          <p:nvPr/>
        </p:nvSpPr>
        <p:spPr>
          <a:xfrm>
            <a:off x="279400" y="1209239"/>
            <a:ext cx="6096000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dirty="0"/>
              <a:t>Frontend GUI</a:t>
            </a:r>
            <a:br>
              <a:rPr lang="en-US" altLang="ja-JP" sz="1050" dirty="0"/>
            </a:br>
            <a:r>
              <a:rPr lang="en-US" altLang="ja-JP" sz="1050" dirty="0"/>
              <a:t>↓</a:t>
            </a:r>
            <a:br>
              <a:rPr lang="en-US" altLang="ja-JP" sz="1050" dirty="0"/>
            </a:br>
            <a:r>
              <a:rPr lang="en-US" altLang="ja-JP" sz="1050" dirty="0" err="1"/>
              <a:t>FastAPI</a:t>
            </a:r>
            <a:r>
              <a:rPr lang="en-US" altLang="ja-JP" sz="1050" dirty="0"/>
              <a:t> Router</a:t>
            </a:r>
            <a:br>
              <a:rPr lang="en-US" altLang="ja-JP" sz="1050" dirty="0"/>
            </a:br>
            <a:r>
              <a:rPr lang="en-US" altLang="ja-JP" sz="1050" dirty="0"/>
              <a:t>↓</a:t>
            </a:r>
            <a:br>
              <a:rPr lang="en-US" altLang="ja-JP" sz="1050" dirty="0"/>
            </a:br>
            <a:r>
              <a:rPr lang="en-US" altLang="ja-JP" sz="1050" dirty="0"/>
              <a:t>service_bridge.py</a:t>
            </a:r>
            <a:br>
              <a:rPr lang="en-US" altLang="ja-JP" sz="1050" dirty="0"/>
            </a:br>
            <a:r>
              <a:rPr lang="en-US" altLang="ja-JP" sz="1050" dirty="0"/>
              <a:t>↓</a:t>
            </a:r>
            <a:br>
              <a:rPr lang="en-US" altLang="ja-JP" sz="1050" dirty="0"/>
            </a:br>
            <a:r>
              <a:rPr lang="en-US" altLang="ja-JP" sz="1050" dirty="0" err="1"/>
              <a:t>ApplicationService</a:t>
            </a:r>
            <a:br>
              <a:rPr lang="en-US" altLang="ja-JP" sz="1050" dirty="0"/>
            </a:br>
            <a:r>
              <a:rPr lang="en-US" altLang="ja-JP" sz="1050" dirty="0"/>
              <a:t>↓</a:t>
            </a:r>
            <a:br>
              <a:rPr lang="en-US" altLang="ja-JP" sz="1050" dirty="0"/>
            </a:br>
            <a:r>
              <a:rPr lang="en-US" altLang="ja-JP" sz="1050" dirty="0"/>
              <a:t>Solver / Config / </a:t>
            </a:r>
            <a:r>
              <a:rPr lang="en-US" altLang="ja-JP" sz="1050" dirty="0" err="1"/>
              <a:t>Thermo</a:t>
            </a:r>
            <a:r>
              <a:rPr lang="en-US" altLang="ja-JP" sz="1050" dirty="0"/>
              <a:t> / Breakup Models</a:t>
            </a:r>
            <a:endParaRPr lang="ja-JP" altLang="en-US" sz="105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8CC1EA-6CD1-AC82-2A0E-DB0FB13A00A3}"/>
              </a:ext>
            </a:extLst>
          </p:cNvPr>
          <p:cNvSpPr txBox="1"/>
          <p:nvPr/>
        </p:nvSpPr>
        <p:spPr>
          <a:xfrm>
            <a:off x="279400" y="702608"/>
            <a:ext cx="4561474" cy="46166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ja-JP" sz="1200" dirty="0">
                <a:latin typeface="Courier New" panose="02070309020205020404" pitchFamily="49" charset="0"/>
              </a:rPr>
              <a:t>service_bridge.py</a:t>
            </a:r>
            <a:r>
              <a:rPr lang="en-US" altLang="ja-JP" sz="1200" dirty="0"/>
              <a:t> prevents the GUI or API code from directly touching the solver.</a:t>
            </a:r>
            <a:endParaRPr lang="ja-JP" altLang="en-US" sz="12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DEBDA84-4252-07D5-F64D-7E463D220594}"/>
              </a:ext>
            </a:extLst>
          </p:cNvPr>
          <p:cNvSpPr txBox="1"/>
          <p:nvPr/>
        </p:nvSpPr>
        <p:spPr>
          <a:xfrm>
            <a:off x="279400" y="2839446"/>
            <a:ext cx="4561474" cy="46166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200" b="1" dirty="0"/>
              <a:t>Why this is good</a:t>
            </a:r>
          </a:p>
          <a:p>
            <a:pPr>
              <a:buNone/>
            </a:pPr>
            <a:r>
              <a:rPr lang="en-US" altLang="ja-JP" sz="1200" dirty="0"/>
              <a:t>It keeps the system clean.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84D4167-06C2-A3E2-B064-F49745ECD26D}"/>
              </a:ext>
            </a:extLst>
          </p:cNvPr>
          <p:cNvSpPr txBox="1"/>
          <p:nvPr/>
        </p:nvSpPr>
        <p:spPr>
          <a:xfrm>
            <a:off x="279400" y="355689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GUI responsibility:</a:t>
            </a:r>
            <a:br>
              <a:rPr lang="en-US" altLang="ja-JP" sz="1200" dirty="0"/>
            </a:br>
            <a:r>
              <a:rPr lang="en-US" altLang="ja-JP" sz="1200" dirty="0"/>
              <a:t>- receive user operation</a:t>
            </a:r>
            <a:br>
              <a:rPr lang="en-US" altLang="ja-JP" sz="1200" dirty="0"/>
            </a:br>
            <a:r>
              <a:rPr lang="en-US" altLang="ja-JP" sz="1200" dirty="0"/>
              <a:t>- call API</a:t>
            </a:r>
            <a:br>
              <a:rPr lang="en-US" altLang="ja-JP" sz="1200" dirty="0"/>
            </a:br>
            <a:r>
              <a:rPr lang="en-US" altLang="ja-JP" sz="1200" dirty="0"/>
              <a:t>- show graph/table/result</a:t>
            </a:r>
            <a:br>
              <a:rPr lang="en-US" altLang="ja-JP" sz="1200" dirty="0"/>
            </a:br>
            <a:br>
              <a:rPr lang="en-US" altLang="ja-JP" sz="1200" dirty="0"/>
            </a:br>
            <a:r>
              <a:rPr lang="en-US" altLang="ja-JP" sz="1200" dirty="0" err="1"/>
              <a:t>ServiceBridge</a:t>
            </a:r>
            <a:r>
              <a:rPr lang="en-US" altLang="ja-JP" sz="1200" dirty="0"/>
              <a:t> responsibility:</a:t>
            </a:r>
            <a:br>
              <a:rPr lang="en-US" altLang="ja-JP" sz="1200" dirty="0"/>
            </a:br>
            <a:r>
              <a:rPr lang="en-US" altLang="ja-JP" sz="1200" dirty="0"/>
              <a:t>- translate GUI/API request into application service call</a:t>
            </a:r>
            <a:br>
              <a:rPr lang="en-US" altLang="ja-JP" sz="1200" dirty="0"/>
            </a:br>
            <a:r>
              <a:rPr lang="en-US" altLang="ja-JP" sz="1200" dirty="0"/>
              <a:t>- run simulation sync or async</a:t>
            </a:r>
            <a:br>
              <a:rPr lang="en-US" altLang="ja-JP" sz="1200" dirty="0"/>
            </a:br>
            <a:r>
              <a:rPr lang="en-US" altLang="ja-JP" sz="1200" dirty="0"/>
              <a:t>- return result to GUI/API</a:t>
            </a:r>
            <a:br>
              <a:rPr lang="en-US" altLang="ja-JP" sz="1200" dirty="0"/>
            </a:br>
            <a:br>
              <a:rPr lang="en-US" altLang="ja-JP" sz="1200" dirty="0"/>
            </a:br>
            <a:r>
              <a:rPr lang="en-US" altLang="ja-JP" sz="1200" dirty="0"/>
              <a:t>Solver responsibility:</a:t>
            </a:r>
            <a:br>
              <a:rPr lang="en-US" altLang="ja-JP" sz="1200" dirty="0"/>
            </a:br>
            <a:r>
              <a:rPr lang="en-US" altLang="ja-JP" sz="1200" dirty="0"/>
              <a:t>- perform physical calculation</a:t>
            </a:r>
            <a:endParaRPr lang="ja-JP" altLang="en-US" sz="12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43DD23B-14E9-AC7D-5917-8A4BF5704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874" y="580160"/>
            <a:ext cx="7173326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84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4738D7-2B78-A522-7D57-9A9D41B5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65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990D56-0F10-208C-580A-8DCFFC00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9323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22783</TotalTime>
  <Words>4933</Words>
  <Application>Microsoft Office PowerPoint</Application>
  <PresentationFormat>ワイド画面</PresentationFormat>
  <Paragraphs>490</Paragraphs>
  <Slides>27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6" baseType="lpstr">
      <vt:lpstr>Segoe WPC</vt:lpstr>
      <vt:lpstr>游ゴシック</vt:lpstr>
      <vt:lpstr>游ゴシック Light</vt:lpstr>
      <vt:lpstr>Arial</vt:lpstr>
      <vt:lpstr>Cambria Math</vt:lpstr>
      <vt:lpstr>Consolas</vt:lpstr>
      <vt:lpstr>Courier New</vt:lpstr>
      <vt:lpstr>Wingdings</vt:lpstr>
      <vt:lpstr>Office テーマ</vt:lpstr>
      <vt:lpstr>Supersonic　Atomizer</vt:lpstr>
      <vt:lpstr>Weber number</vt:lpstr>
      <vt:lpstr>Weber number</vt:lpstr>
      <vt:lpstr>ASME2026</vt:lpstr>
      <vt:lpstr>PowerPoint プレゼンテーション</vt:lpstr>
      <vt:lpstr>The model of droplet acceleration and break up</vt:lpstr>
      <vt:lpstr>Y は「液滴がどれだけ潰れて変形しているか」を表す無次元量</vt:lpstr>
      <vt:lpstr>臨界ウェーバー数</vt:lpstr>
      <vt:lpstr>改造構想</vt:lpstr>
      <vt:lpstr>用語</vt:lpstr>
      <vt:lpstr>フロー（2026/4/26)</vt:lpstr>
      <vt:lpstr>液柱→液滴：準一次元解析</vt:lpstr>
      <vt:lpstr>NewCodeの改造点</vt:lpstr>
      <vt:lpstr>改造構想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Web　Application</vt:lpstr>
      <vt:lpstr>APIコード</vt:lpstr>
      <vt:lpstr>Router::Simulation::RUN</vt:lpstr>
      <vt:lpstr>Router::Simulation::GET</vt:lpstr>
      <vt:lpstr>Router::Simulation::GET</vt:lpstr>
      <vt:lpstr>Fastapi_app.py :: ルータを束ねるアプリ本体</vt:lpstr>
      <vt:lpstr>Service_bridge.py :: APIとアプリ層の橋渡し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hideki ono</dc:creator>
  <cp:lastModifiedBy>hideki ono</cp:lastModifiedBy>
  <cp:revision>24</cp:revision>
  <dcterms:created xsi:type="dcterms:W3CDTF">2026-04-11T08:09:21Z</dcterms:created>
  <dcterms:modified xsi:type="dcterms:W3CDTF">2026-05-09T13:16:51Z</dcterms:modified>
</cp:coreProperties>
</file>